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31"/>
  </p:notesMasterIdLst>
  <p:handoutMasterIdLst>
    <p:handoutMasterId r:id="rId32"/>
  </p:handoutMasterIdLst>
  <p:sldIdLst>
    <p:sldId id="256" r:id="rId4"/>
    <p:sldId id="257" r:id="rId5"/>
    <p:sldId id="258" r:id="rId6"/>
    <p:sldId id="282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x="12192000" cy="6858000"/>
  <p:notesSz cx="7077075" cy="90519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99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6733" cy="45416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08705" y="0"/>
            <a:ext cx="3066733" cy="45416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131FB9-F939-436B-B6EB-8F47B5945B28}" type="datetimeFigureOut">
              <a:rPr lang="en-US" smtClean="0"/>
              <a:t>3/24/2016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597758"/>
            <a:ext cx="3066733" cy="4541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08705" y="8597758"/>
            <a:ext cx="3066733" cy="4541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21BB34-3EA0-4380-AE5A-23C617282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4175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6733" cy="45416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705" y="0"/>
            <a:ext cx="3066733" cy="45416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6213A3-F073-4934-852F-1F2631DC6BF8}" type="datetimeFigureOut">
              <a:rPr lang="en-US" smtClean="0"/>
              <a:t>3/24/2016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22325" y="1130300"/>
            <a:ext cx="5432425" cy="30559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7708" y="4356239"/>
            <a:ext cx="5661660" cy="356419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597758"/>
            <a:ext cx="3066733" cy="4541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705" y="8597758"/>
            <a:ext cx="3066733" cy="4541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6E6BD5-02EB-4991-96F5-97E51CF20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0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056DC44-6374-465E-B227-6D8A3C9EB013}" type="slidenum">
              <a:rPr lang="en-US" altLang="en-US">
                <a:solidFill>
                  <a:prstClr val="black"/>
                </a:solidFill>
                <a:latin typeface="Calibri" panose="020F0502020204030204" pitchFamily="34" charset="0"/>
              </a:rPr>
              <a:pPr eaLnBrk="1" hangingPunct="1"/>
              <a:t>1</a:t>
            </a:fld>
            <a:endParaRPr lang="en-US" altLang="en-US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3699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01A6F14-DFED-4949-9521-8BB46DF61E31}" type="slidenum">
              <a:rPr lang="en-US" altLang="en-US">
                <a:solidFill>
                  <a:prstClr val="black"/>
                </a:solidFill>
                <a:latin typeface="Calibri" panose="020F0502020204030204" pitchFamily="34" charset="0"/>
              </a:rPr>
              <a:pPr eaLnBrk="1" hangingPunct="1"/>
              <a:t>2</a:t>
            </a:fld>
            <a:endParaRPr lang="en-US" altLang="en-US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6346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FBDF55A-66D0-49A5-B1D4-A38F97B31DC2}" type="slidenum">
              <a:rPr lang="en-US" altLang="en-US">
                <a:solidFill>
                  <a:prstClr val="black"/>
                </a:solidFill>
                <a:latin typeface="Calibri" panose="020F0502020204030204" pitchFamily="34" charset="0"/>
              </a:rPr>
              <a:pPr eaLnBrk="1" hangingPunct="1"/>
              <a:t>3</a:t>
            </a:fld>
            <a:endParaRPr lang="en-US" altLang="en-US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39704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3197C77-C9DC-4540-9179-885F108611D2}" type="slidenum">
              <a:rPr lang="en-US" altLang="en-US">
                <a:solidFill>
                  <a:prstClr val="black"/>
                </a:solidFill>
                <a:latin typeface="Calibri" panose="020F0502020204030204" pitchFamily="34" charset="0"/>
              </a:rPr>
              <a:pPr eaLnBrk="1" hangingPunct="1"/>
              <a:t>4</a:t>
            </a:fld>
            <a:endParaRPr lang="en-US" altLang="en-US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66432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3197C77-C9DC-4540-9179-885F108611D2}" type="slidenum">
              <a:rPr lang="en-US" altLang="en-US">
                <a:solidFill>
                  <a:prstClr val="black"/>
                </a:solidFill>
                <a:latin typeface="Calibri" panose="020F0502020204030204" pitchFamily="34" charset="0"/>
              </a:rPr>
              <a:pPr eaLnBrk="1" hangingPunct="1"/>
              <a:t>5</a:t>
            </a:fld>
            <a:endParaRPr lang="en-US" altLang="en-US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1606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FA61452-BF4E-4BF3-B8AC-05BA59F1E0D6}" type="slidenum">
              <a:rPr lang="en-US" altLang="en-US">
                <a:solidFill>
                  <a:prstClr val="black"/>
                </a:solidFill>
                <a:latin typeface="Calibri" panose="020F0502020204030204" pitchFamily="34" charset="0"/>
              </a:rPr>
              <a:pPr eaLnBrk="1" hangingPunct="1"/>
              <a:t>6</a:t>
            </a:fld>
            <a:endParaRPr lang="en-US" altLang="en-US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43770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57A19A4-C3DF-4359-A2AA-92F27F7B8DB3}" type="slidenum">
              <a:rPr lang="en-US" altLang="en-US">
                <a:solidFill>
                  <a:prstClr val="black"/>
                </a:solidFill>
                <a:latin typeface="Calibri" panose="020F0502020204030204" pitchFamily="34" charset="0"/>
              </a:rPr>
              <a:pPr eaLnBrk="1" hangingPunct="1"/>
              <a:t>7</a:t>
            </a:fld>
            <a:endParaRPr lang="en-US" altLang="en-US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40181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FA61452-BF4E-4BF3-B8AC-05BA59F1E0D6}" type="slidenum">
              <a:rPr lang="en-US" altLang="en-US">
                <a:solidFill>
                  <a:prstClr val="black"/>
                </a:solidFill>
                <a:latin typeface="Calibri" panose="020F0502020204030204" pitchFamily="34" charset="0"/>
              </a:rPr>
              <a:pPr eaLnBrk="1" hangingPunct="1"/>
              <a:t>8</a:t>
            </a:fld>
            <a:endParaRPr lang="en-US" altLang="en-US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22079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0DF61DE-BAA4-4CF4-825D-3830AB8774A3}" type="slidenum">
              <a:rPr lang="en-US" altLang="en-US">
                <a:solidFill>
                  <a:prstClr val="black"/>
                </a:solidFill>
                <a:latin typeface="Calibri" panose="020F0502020204030204" pitchFamily="34" charset="0"/>
              </a:rPr>
              <a:pPr eaLnBrk="1" hangingPunct="1"/>
              <a:t>9</a:t>
            </a:fld>
            <a:endParaRPr lang="en-US" altLang="en-US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90552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8664BB6-D521-40FA-BA5D-3CB2AD1B59DC}" type="slidenum">
              <a:rPr lang="en-US" altLang="en-US">
                <a:solidFill>
                  <a:prstClr val="black"/>
                </a:solidFill>
                <a:latin typeface="Calibri" panose="020F0502020204030204" pitchFamily="34" charset="0"/>
              </a:rPr>
              <a:pPr eaLnBrk="1" hangingPunct="1"/>
              <a:t>10</a:t>
            </a:fld>
            <a:endParaRPr lang="en-US" altLang="en-US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37101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926D3E4-BA1F-42DE-95E2-1FC1E85D6331}" type="slidenum">
              <a:rPr lang="en-US" altLang="en-US">
                <a:solidFill>
                  <a:prstClr val="black"/>
                </a:solidFill>
                <a:latin typeface="Calibri" panose="020F0502020204030204" pitchFamily="34" charset="0"/>
              </a:rPr>
              <a:pPr eaLnBrk="1" hangingPunct="1"/>
              <a:t>11</a:t>
            </a:fld>
            <a:endParaRPr lang="en-US" altLang="en-US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12550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2000AFF-92F8-4034-8B8B-54F592D77CFB}" type="slidenum">
              <a:rPr lang="en-US" altLang="en-US">
                <a:solidFill>
                  <a:prstClr val="black"/>
                </a:solidFill>
                <a:latin typeface="Calibri" panose="020F0502020204030204" pitchFamily="34" charset="0"/>
              </a:rPr>
              <a:pPr eaLnBrk="1" hangingPunct="1"/>
              <a:t>12</a:t>
            </a:fld>
            <a:endParaRPr lang="en-US" altLang="en-US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68952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B586CCB-D4FE-4C56-95EE-DBC8FB497C4F}" type="slidenum">
              <a:rPr lang="en-US" altLang="en-US">
                <a:solidFill>
                  <a:prstClr val="black"/>
                </a:solidFill>
                <a:latin typeface="Calibri" panose="020F0502020204030204" pitchFamily="34" charset="0"/>
              </a:rPr>
              <a:pPr eaLnBrk="1" hangingPunct="1"/>
              <a:t>13</a:t>
            </a:fld>
            <a:endParaRPr lang="en-US" altLang="en-US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4505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9D32E72-2758-423B-B472-B56CFBB70B78}" type="slidenum">
              <a:rPr lang="en-US" altLang="en-US">
                <a:solidFill>
                  <a:prstClr val="black"/>
                </a:solidFill>
                <a:latin typeface="Calibri" panose="020F0502020204030204" pitchFamily="34" charset="0"/>
              </a:rPr>
              <a:pPr eaLnBrk="1" hangingPunct="1"/>
              <a:t>14</a:t>
            </a:fld>
            <a:endParaRPr lang="en-US" altLang="en-US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7479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9CA0C3C-CA9A-41F4-A9F4-0A826096A88D}" type="slidenum">
              <a:rPr lang="en-US" altLang="en-US">
                <a:solidFill>
                  <a:prstClr val="black"/>
                </a:solidFill>
                <a:latin typeface="Calibri" panose="020F0502020204030204" pitchFamily="34" charset="0"/>
              </a:rPr>
              <a:pPr eaLnBrk="1" hangingPunct="1"/>
              <a:t>15</a:t>
            </a:fld>
            <a:endParaRPr lang="en-US" altLang="en-US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093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175B3CE-749F-4FB9-8336-F1EA65F23B68}" type="slidenum">
              <a:rPr lang="en-US" altLang="en-US">
                <a:solidFill>
                  <a:prstClr val="black"/>
                </a:solidFill>
                <a:latin typeface="Calibri" panose="020F0502020204030204" pitchFamily="34" charset="0"/>
              </a:rPr>
              <a:pPr eaLnBrk="1" hangingPunct="1"/>
              <a:t>16</a:t>
            </a:fld>
            <a:endParaRPr lang="en-US" altLang="en-US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58933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4E85F70-62F6-4582-9012-FE87C045613D}" type="slidenum">
              <a:rPr lang="en-US" altLang="en-US">
                <a:solidFill>
                  <a:prstClr val="black"/>
                </a:solidFill>
                <a:latin typeface="Calibri" panose="020F0502020204030204" pitchFamily="34" charset="0"/>
              </a:rPr>
              <a:pPr eaLnBrk="1" hangingPunct="1"/>
              <a:t>17</a:t>
            </a:fld>
            <a:endParaRPr lang="en-US" altLang="en-US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8905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A7E1993-9565-400B-A8D6-89288B6D92B3}" type="slidenum">
              <a:rPr lang="en-US" altLang="en-US">
                <a:solidFill>
                  <a:prstClr val="black"/>
                </a:solidFill>
                <a:latin typeface="Calibri" panose="020F0502020204030204" pitchFamily="34" charset="0"/>
              </a:rPr>
              <a:pPr eaLnBrk="1" hangingPunct="1"/>
              <a:t>18</a:t>
            </a:fld>
            <a:endParaRPr lang="en-US" altLang="en-US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26848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E07AEE9-BAD4-4514-9EC3-71A4E33D22CB}" type="slidenum">
              <a:rPr lang="en-US" altLang="en-US">
                <a:solidFill>
                  <a:prstClr val="black"/>
                </a:solidFill>
                <a:latin typeface="Calibri" panose="020F0502020204030204" pitchFamily="34" charset="0"/>
              </a:rPr>
              <a:pPr eaLnBrk="1" hangingPunct="1"/>
              <a:t>19</a:t>
            </a:fld>
            <a:endParaRPr lang="en-US" altLang="en-US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51388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93D6BD0-9BBF-4685-828D-797290E21058}" type="slidenum">
              <a:rPr lang="en-US" altLang="en-US">
                <a:solidFill>
                  <a:prstClr val="black"/>
                </a:solidFill>
                <a:latin typeface="Calibri" panose="020F0502020204030204" pitchFamily="34" charset="0"/>
              </a:rPr>
              <a:pPr eaLnBrk="1" hangingPunct="1"/>
              <a:t>20</a:t>
            </a:fld>
            <a:endParaRPr lang="en-US" altLang="en-US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16532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5BE6564-2257-475C-BF18-6B820FAEE971}" type="slidenum">
              <a:rPr lang="en-US" altLang="en-US">
                <a:solidFill>
                  <a:prstClr val="black"/>
                </a:solidFill>
                <a:latin typeface="Calibri" panose="020F0502020204030204" pitchFamily="34" charset="0"/>
              </a:rPr>
              <a:pPr eaLnBrk="1" hangingPunct="1"/>
              <a:t>21</a:t>
            </a:fld>
            <a:endParaRPr lang="en-US" altLang="en-US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9280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28D3603-DBE8-481D-A323-0C9AE8619576}" type="slidenum">
              <a:rPr lang="en-US" altLang="en-US">
                <a:solidFill>
                  <a:prstClr val="black"/>
                </a:solidFill>
                <a:latin typeface="Calibri" panose="020F0502020204030204" pitchFamily="34" charset="0"/>
              </a:rPr>
              <a:pPr eaLnBrk="1" hangingPunct="1"/>
              <a:t>22</a:t>
            </a:fld>
            <a:endParaRPr lang="en-US" altLang="en-US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6388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0F1DA78-9916-467E-BE3E-C1E7823A572B}" type="slidenum">
              <a:rPr lang="en-US" altLang="en-US">
                <a:solidFill>
                  <a:prstClr val="black"/>
                </a:solidFill>
                <a:latin typeface="Calibri" panose="020F0502020204030204" pitchFamily="34" charset="0"/>
              </a:rPr>
              <a:pPr eaLnBrk="1" hangingPunct="1"/>
              <a:t>23</a:t>
            </a:fld>
            <a:endParaRPr lang="en-US" altLang="en-US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66983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87CD36C-1E91-4020-8481-D777C580777D}" type="slidenum">
              <a:rPr lang="en-US" altLang="en-US">
                <a:solidFill>
                  <a:prstClr val="black"/>
                </a:solidFill>
                <a:latin typeface="Calibri" panose="020F0502020204030204" pitchFamily="34" charset="0"/>
              </a:rPr>
              <a:pPr eaLnBrk="1" hangingPunct="1"/>
              <a:t>24</a:t>
            </a:fld>
            <a:endParaRPr lang="en-US" altLang="en-US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9309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EE8F9E8-4C7F-4901-AA9D-576AF5C33183}" type="slidenum">
              <a:rPr lang="en-US" altLang="en-US">
                <a:solidFill>
                  <a:prstClr val="black"/>
                </a:solidFill>
                <a:latin typeface="Calibri" panose="020F0502020204030204" pitchFamily="34" charset="0"/>
              </a:rPr>
              <a:pPr eaLnBrk="1" hangingPunct="1"/>
              <a:t>25</a:t>
            </a:fld>
            <a:endParaRPr lang="en-US" altLang="en-US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7832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161B124-C0FE-4833-833B-9C7B4B048B62}" type="slidenum">
              <a:rPr lang="en-US" altLang="en-US">
                <a:solidFill>
                  <a:prstClr val="black"/>
                </a:solidFill>
                <a:latin typeface="Calibri" panose="020F0502020204030204" pitchFamily="34" charset="0"/>
              </a:rPr>
              <a:pPr eaLnBrk="1" hangingPunct="1"/>
              <a:t>26</a:t>
            </a:fld>
            <a:endParaRPr lang="en-US" altLang="en-US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22341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976289F-214F-4A65-9C1E-92B6991AFB70}" type="slidenum">
              <a:rPr lang="en-US" altLang="en-US">
                <a:solidFill>
                  <a:prstClr val="black"/>
                </a:solidFill>
                <a:latin typeface="Calibri" panose="020F0502020204030204" pitchFamily="34" charset="0"/>
              </a:rPr>
              <a:pPr eaLnBrk="1" hangingPunct="1"/>
              <a:t>27</a:t>
            </a:fld>
            <a:endParaRPr lang="en-US" altLang="en-US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771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0D373-4D39-4C54-A32C-216745A12519}" type="datetimeFigureOut">
              <a:rPr lang="en-US" smtClean="0"/>
              <a:t>3/24/2016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2EF01-279A-4F03-9DF4-739EF10C0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290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0D373-4D39-4C54-A32C-216745A12519}" type="datetimeFigureOut">
              <a:rPr lang="en-US" smtClean="0"/>
              <a:t>3/24/2016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2EF01-279A-4F03-9DF4-739EF10C0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433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0D373-4D39-4C54-A32C-216745A12519}" type="datetimeFigureOut">
              <a:rPr lang="en-US" smtClean="0"/>
              <a:t>3/24/2016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2EF01-279A-4F03-9DF4-739EF10C0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849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0D373-4D39-4C54-A32C-216745A12519}" type="datetimeFigureOut">
              <a:rPr lang="en-US" smtClean="0"/>
              <a:t>3/24/2016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2EF01-279A-4F03-9DF4-739EF10C0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073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0D373-4D39-4C54-A32C-216745A12519}" type="datetimeFigureOut">
              <a:rPr lang="en-US" smtClean="0"/>
              <a:t>3/24/2016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2EF01-279A-4F03-9DF4-739EF10C0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109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0D373-4D39-4C54-A32C-216745A12519}" type="datetimeFigureOut">
              <a:rPr lang="en-US" smtClean="0"/>
              <a:t>3/24/2016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2EF01-279A-4F03-9DF4-739EF10C0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151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0D373-4D39-4C54-A32C-216745A12519}" type="datetimeFigureOut">
              <a:rPr lang="en-US" smtClean="0"/>
              <a:t>3/24/2016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2EF01-279A-4F03-9DF4-739EF10C0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962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0D373-4D39-4C54-A32C-216745A12519}" type="datetimeFigureOut">
              <a:rPr lang="en-US" smtClean="0"/>
              <a:t>3/24/2016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2EF01-279A-4F03-9DF4-739EF10C0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90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0D373-4D39-4C54-A32C-216745A12519}" type="datetimeFigureOut">
              <a:rPr lang="en-US" smtClean="0"/>
              <a:t>3/24/2016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2EF01-279A-4F03-9DF4-739EF10C0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615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0D373-4D39-4C54-A32C-216745A12519}" type="datetimeFigureOut">
              <a:rPr lang="en-US" smtClean="0"/>
              <a:t>3/24/2016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2EF01-279A-4F03-9DF4-739EF10C0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13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0D373-4D39-4C54-A32C-216745A12519}" type="datetimeFigureOut">
              <a:rPr lang="en-US" smtClean="0"/>
              <a:t>3/24/2016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2EF01-279A-4F03-9DF4-739EF10C0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1285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2EF22-EAD1-40C7-9A56-DD20A3B0915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5D2BE-B0D4-4AC6-A9D6-1740EFEF459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76193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F84D3-06BD-4742-BBFF-BE5981DFEFB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5D2BE-B0D4-4AC6-A9D6-1740EFEF459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4493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8CECA-C577-488F-B380-9FEC4C62DA7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5D2BE-B0D4-4AC6-A9D6-1740EFEF459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59530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9B79E-BFAD-4EAA-8A67-330E0BCA0FE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5D2BE-B0D4-4AC6-A9D6-1740EFEF459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02532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46F53-891B-431D-9469-55080F4C039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5D2BE-B0D4-4AC6-A9D6-1740EFEF459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718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71F99-1012-4D51-9940-848C802412A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5D2BE-B0D4-4AC6-A9D6-1740EFEF459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15634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3F0DA-32F0-410D-B343-518FCAB08D0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5D2BE-B0D4-4AC6-A9D6-1740EFEF459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59564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19074-FED5-4813-850B-AE87F6645E7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5D2BE-B0D4-4AC6-A9D6-1740EFEF459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38266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2A9EB-23BE-4766-A781-E636068C47C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5D2BE-B0D4-4AC6-A9D6-1740EFEF459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8282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09800-77C8-4E17-8488-2BC00F5ADA5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5D2BE-B0D4-4AC6-A9D6-1740EFEF459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64154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17E0C-EE6C-4321-A09E-A244DC659D8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5D2BE-B0D4-4AC6-A9D6-1740EFEF459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26903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BBA3EE-DF09-4140-9201-2C17C8E8077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3/24/2016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49422F-C6FB-443C-AFA0-5F2C0BBB7E4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6155759"/>
      </p:ext>
    </p:extLst>
  </p:cSld>
  <p:clrMapOvr>
    <a:masterClrMapping/>
  </p:clrMapOvr>
  <p:transition>
    <p:fade thruBlk="1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F54BCB-30A2-4AEC-901D-48899936A98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3/24/2016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1FD8C3-E45F-448B-8C46-A803BCE104B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4140481"/>
      </p:ext>
    </p:extLst>
  </p:cSld>
  <p:clrMapOvr>
    <a:masterClrMapping/>
  </p:clrMapOvr>
  <p:transition>
    <p:fade thruBlk="1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9CFFAF-BD66-4F5B-8C0B-E860B4FBEE2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3/24/2016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2FA7C9-E72F-433B-8CD8-1F9A73008BA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3181476"/>
      </p:ext>
    </p:extLst>
  </p:cSld>
  <p:clrMapOvr>
    <a:masterClrMapping/>
  </p:clrMapOvr>
  <p:transition>
    <p:fade thruBlk="1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C4F1E5-7420-4CC6-B4DA-83420F00F5B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3/24/2016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994D32-14E4-479E-AB65-DF239587DDD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9652808"/>
      </p:ext>
    </p:extLst>
  </p:cSld>
  <p:clrMapOvr>
    <a:masterClrMapping/>
  </p:clrMapOvr>
  <p:transition>
    <p:fade thruBlk="1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BE3F6A-1D85-4C46-962F-62EEC57C362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3/24/2016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BC2B17-D693-438A-B8FA-176448EFB82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1179940"/>
      </p:ext>
    </p:extLst>
  </p:cSld>
  <p:clrMapOvr>
    <a:masterClrMapping/>
  </p:clrMapOvr>
  <p:transition>
    <p:fade thruBlk="1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75950A-F643-46B2-BDEF-914B60678AE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3/24/2016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916FC4-F211-4C81-BC4C-3787ADC4A8D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6347418"/>
      </p:ext>
    </p:extLst>
  </p:cSld>
  <p:clrMapOvr>
    <a:masterClrMapping/>
  </p:clrMapOvr>
  <p:transition>
    <p:fade thruBlk="1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BC100C-D3EB-4D8A-8D63-A9C628830AA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3/24/2016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6C004D-2DB1-46B7-88B7-A39B87497B6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7650969"/>
      </p:ext>
    </p:extLst>
  </p:cSld>
  <p:clrMapOvr>
    <a:masterClrMapping/>
  </p:clrMapOvr>
  <p:transition>
    <p:fade thruBlk="1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30FBC2-F4C0-404F-887B-F79DF5973C5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3/24/2016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60B443-4AA4-4AE5-BF76-E2C262EFA54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5493099"/>
      </p:ext>
    </p:extLst>
  </p:cSld>
  <p:clrMapOvr>
    <a:masterClrMapping/>
  </p:clrMapOvr>
  <p:transition>
    <p:fade thruBlk="1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2BF81D-2988-429C-AED4-E2E8B8DF674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3/24/2016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070CD6-7768-4436-9CFB-4B755B85F42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5388520"/>
      </p:ext>
    </p:extLst>
  </p:cSld>
  <p:clrMapOvr>
    <a:masterClrMapping/>
  </p:clrMapOvr>
  <p:transition>
    <p:fade thruBlk="1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ACD174-B6C5-47A0-84A7-68EAF968C24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3/24/2016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641DDD-38F6-48CA-B8C4-7B5FB7DF671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9266366"/>
      </p:ext>
    </p:extLst>
  </p:cSld>
  <p:clrMapOvr>
    <a:masterClrMapping/>
  </p:clrMapOvr>
  <p:transition>
    <p:fade thruBlk="1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99EBBF-5327-41D7-B4B7-2198DF39CE2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3/24/2016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8ACFA7-D90B-49E5-B779-84241C2FD83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39338"/>
      </p:ext>
    </p:extLst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E0D373-4D39-4C54-A32C-216745A12519}" type="datetimeFigureOut">
              <a:rPr lang="en-US" smtClean="0"/>
              <a:t>3/24/2016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C2EF01-279A-4F03-9DF4-739EF10C0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108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A767B-5DDB-463D-AD09-32DBC581DCC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95D2BE-B0D4-4AC6-A9D6-1740EFEF459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0501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B9C98D0-9FF1-415E-BC87-7F619AB1E80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3/24/2016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56DB12D-A312-441F-985B-A5E3592E9DA4}" type="slidenum">
              <a:rPr lang="en-US" altLang="en-US"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7940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>
    <p:fade thruBlk="1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2286000" y="838200"/>
            <a:ext cx="8382000" cy="4953000"/>
          </a:xfrm>
        </p:spPr>
        <p:txBody>
          <a:bodyPr rtlCol="0">
            <a:normAutofit fontScale="25000" lnSpcReduction="20000"/>
          </a:bodyPr>
          <a:lstStyle/>
          <a:p>
            <a:pPr algn="l">
              <a:defRPr/>
            </a:pPr>
            <a:endParaRPr lang="en-US" dirty="0"/>
          </a:p>
          <a:p>
            <a:pPr>
              <a:defRPr/>
            </a:pPr>
            <a:r>
              <a:rPr lang="en-US" sz="3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WELCOME</a:t>
            </a:r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4800" dirty="0">
              <a:latin typeface="Arial" pitchFamily="34" charset="0"/>
              <a:cs typeface="Arial" pitchFamily="34" charset="0"/>
            </a:endParaRPr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b="1" dirty="0">
              <a:latin typeface="Arial" pitchFamily="34" charset="0"/>
              <a:cs typeface="Arial" pitchFamily="34" charset="0"/>
            </a:endParaRPr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b="1" dirty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r>
              <a:rPr lang="en-US" sz="17600" b="1" dirty="0">
                <a:latin typeface="Arial" pitchFamily="34" charset="0"/>
                <a:cs typeface="Arial" pitchFamily="34" charset="0"/>
              </a:rPr>
              <a:t>TO THE </a:t>
            </a:r>
            <a:r>
              <a:rPr lang="en-US" sz="17600" b="1" dirty="0" smtClean="0">
                <a:latin typeface="Arial" pitchFamily="34" charset="0"/>
                <a:cs typeface="Arial" pitchFamily="34" charset="0"/>
              </a:rPr>
              <a:t>SC CONCEALED WEAPONS PERMIT COURSE</a:t>
            </a:r>
            <a:endParaRPr lang="en-US" sz="17600" b="1" dirty="0">
              <a:latin typeface="Arial" pitchFamily="34" charset="0"/>
              <a:cs typeface="Arial" pitchFamily="34" charset="0"/>
            </a:endParaRPr>
          </a:p>
          <a:p>
            <a:pPr algn="l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algn="l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algn="l">
              <a:defRPr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 </a:t>
            </a:r>
            <a:endParaRPr lang="en-US" sz="1600" i="1" dirty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endParaRPr lang="en-US" sz="1600" i="1" dirty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r>
              <a:rPr lang="en-US" sz="17600" b="1" i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NO </a:t>
            </a:r>
            <a:r>
              <a:rPr lang="en-US" sz="17600" b="1" i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FIREARMS OR </a:t>
            </a:r>
            <a:r>
              <a:rPr lang="en-US" sz="17600" b="1" i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AMMUNITION IN THE CLASSROOM!</a:t>
            </a:r>
          </a:p>
        </p:txBody>
      </p:sp>
      <p:sp>
        <p:nvSpPr>
          <p:cNvPr id="8" name="Rectangle 7"/>
          <p:cNvSpPr/>
          <p:nvPr/>
        </p:nvSpPr>
        <p:spPr>
          <a:xfrm>
            <a:off x="1524000" y="685800"/>
            <a:ext cx="762000" cy="6172200"/>
          </a:xfrm>
          <a:prstGeom prst="rect">
            <a:avLst/>
          </a:prstGeom>
          <a:gradFill flip="none" rotWithShape="1">
            <a:gsLst>
              <a:gs pos="0">
                <a:srgbClr val="EC1010">
                  <a:tint val="66000"/>
                  <a:satMod val="160000"/>
                </a:srgbClr>
              </a:gs>
              <a:gs pos="50000">
                <a:srgbClr val="EC1010">
                  <a:tint val="44500"/>
                  <a:satMod val="160000"/>
                </a:srgbClr>
              </a:gs>
              <a:gs pos="100000">
                <a:srgbClr val="EC101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914400"/>
          </a:xfrm>
          <a:solidFill>
            <a:srgbClr val="EC1010"/>
          </a:solidFill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sz="1300" dirty="0"/>
              <a:t/>
            </a:r>
            <a:br>
              <a:rPr lang="en-US" sz="1300" dirty="0"/>
            </a:br>
            <a:r>
              <a:rPr lang="en-US" dirty="0" smtClean="0">
                <a:solidFill>
                  <a:schemeClr val="bg1"/>
                </a:solidFill>
              </a:rPr>
              <a:t/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sz="1300" dirty="0">
                <a:solidFill>
                  <a:schemeClr val="bg1"/>
                </a:solidFill>
              </a:rPr>
              <a:t/>
            </a:r>
            <a:br>
              <a:rPr lang="en-US" sz="1300" dirty="0">
                <a:solidFill>
                  <a:schemeClr val="bg1"/>
                </a:solidFill>
              </a:rPr>
            </a:b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5D2BE-B0D4-4AC6-A9D6-1740EFEF459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5919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200400" y="1905000"/>
            <a:ext cx="6629400" cy="3810000"/>
          </a:xfrm>
        </p:spPr>
        <p:txBody>
          <a:bodyPr rtlCol="0">
            <a:normAutofit fontScale="25000" lnSpcReduction="20000"/>
          </a:bodyPr>
          <a:lstStyle/>
          <a:p>
            <a:pPr algn="l">
              <a:lnSpc>
                <a:spcPts val="1700"/>
              </a:lnSpc>
              <a:buFont typeface="Arial" panose="020B0604020202020204" pitchFamily="34" charset="0"/>
              <a:buChar char="•"/>
              <a:defRPr/>
            </a:pPr>
            <a:r>
              <a:rPr lang="en-US" sz="8400" b="1" dirty="0">
                <a:latin typeface="Arial" pitchFamily="34" charset="0"/>
                <a:cs typeface="Arial" pitchFamily="34" charset="0"/>
              </a:rPr>
              <a:t> POLICY REGARDING AMMUNITION IN THE </a:t>
            </a:r>
          </a:p>
          <a:p>
            <a:pPr algn="l">
              <a:lnSpc>
                <a:spcPts val="1700"/>
              </a:lnSpc>
              <a:defRPr/>
            </a:pPr>
            <a:r>
              <a:rPr lang="en-US" sz="8400" b="1" dirty="0">
                <a:latin typeface="Arial" pitchFamily="34" charset="0"/>
                <a:cs typeface="Arial" pitchFamily="34" charset="0"/>
              </a:rPr>
              <a:t>  CLASSROOM</a:t>
            </a:r>
          </a:p>
          <a:p>
            <a:pPr algn="l">
              <a:buFont typeface="Arial" panose="020B0604020202020204" pitchFamily="34" charset="0"/>
              <a:buChar char="•"/>
              <a:defRPr/>
            </a:pPr>
            <a:r>
              <a:rPr lang="en-US" sz="8400" b="1" dirty="0">
                <a:latin typeface="Arial" pitchFamily="34" charset="0"/>
                <a:cs typeface="Arial" pitchFamily="34" charset="0"/>
              </a:rPr>
              <a:t> SECURITY OF FIREARMS</a:t>
            </a:r>
          </a:p>
          <a:p>
            <a:pPr algn="l">
              <a:buFont typeface="Arial" panose="020B0604020202020204" pitchFamily="34" charset="0"/>
              <a:buChar char="•"/>
              <a:defRPr/>
            </a:pPr>
            <a:r>
              <a:rPr lang="en-US" sz="8400" b="1" dirty="0">
                <a:latin typeface="Arial" pitchFamily="34" charset="0"/>
                <a:cs typeface="Arial" pitchFamily="34" charset="0"/>
              </a:rPr>
              <a:t> RESTROOMS AND DRINKING FOUNTAINS</a:t>
            </a:r>
          </a:p>
          <a:p>
            <a:pPr algn="l">
              <a:buFont typeface="Arial" panose="020B0604020202020204" pitchFamily="34" charset="0"/>
              <a:buChar char="•"/>
              <a:defRPr/>
            </a:pPr>
            <a:r>
              <a:rPr lang="en-US" sz="8400" b="1" dirty="0">
                <a:latin typeface="Arial" pitchFamily="34" charset="0"/>
                <a:cs typeface="Arial" pitchFamily="34" charset="0"/>
              </a:rPr>
              <a:t> TELEPHONES AND EMERGENCY EXITS</a:t>
            </a:r>
          </a:p>
          <a:p>
            <a:pPr algn="l">
              <a:buFont typeface="Arial" panose="020B0604020202020204" pitchFamily="34" charset="0"/>
              <a:buChar char="•"/>
              <a:defRPr/>
            </a:pPr>
            <a:r>
              <a:rPr lang="en-US" sz="8400" b="1" dirty="0">
                <a:latin typeface="Arial" pitchFamily="34" charset="0"/>
                <a:cs typeface="Arial" pitchFamily="34" charset="0"/>
              </a:rPr>
              <a:t> POLICY REGARDING REFRESHMENTS/SNACKS</a:t>
            </a:r>
          </a:p>
          <a:p>
            <a:pPr algn="l">
              <a:buFont typeface="Arial" panose="020B0604020202020204" pitchFamily="34" charset="0"/>
              <a:buChar char="•"/>
              <a:defRPr/>
            </a:pPr>
            <a:r>
              <a:rPr lang="en-US" sz="8400" b="1" dirty="0">
                <a:latin typeface="Arial" pitchFamily="34" charset="0"/>
                <a:cs typeface="Arial" pitchFamily="34" charset="0"/>
              </a:rPr>
              <a:t> POLICY REGARDING SMOKING</a:t>
            </a:r>
          </a:p>
          <a:p>
            <a:pPr algn="l">
              <a:buFont typeface="Arial" panose="020B0604020202020204" pitchFamily="34" charset="0"/>
              <a:buChar char="•"/>
              <a:defRPr/>
            </a:pPr>
            <a:r>
              <a:rPr lang="en-US" sz="8400" b="1" dirty="0">
                <a:latin typeface="Arial" pitchFamily="34" charset="0"/>
                <a:cs typeface="Arial" pitchFamily="34" charset="0"/>
              </a:rPr>
              <a:t> SCHEDULE FOR BREAKS AND LUNCH</a:t>
            </a:r>
          </a:p>
          <a:p>
            <a:pPr algn="l">
              <a:buFont typeface="Arial" panose="020B0604020202020204" pitchFamily="34" charset="0"/>
              <a:buChar char="•"/>
              <a:defRPr/>
            </a:pPr>
            <a:r>
              <a:rPr lang="en-US" sz="8400" b="1" dirty="0">
                <a:latin typeface="Arial" pitchFamily="34" charset="0"/>
                <a:cs typeface="Arial" pitchFamily="34" charset="0"/>
              </a:rPr>
              <a:t> AIR CONDITIONING AND HEATING </a:t>
            </a:r>
          </a:p>
          <a:p>
            <a:pPr algn="l">
              <a:defRPr/>
            </a:pPr>
            <a:r>
              <a:rPr lang="en-US" sz="8400" b="1" dirty="0">
                <a:latin typeface="Arial" pitchFamily="34" charset="0"/>
                <a:cs typeface="Arial" pitchFamily="34" charset="0"/>
              </a:rPr>
              <a:t>  ADJUSTMENTS</a:t>
            </a:r>
          </a:p>
          <a:p>
            <a:pPr algn="l">
              <a:buFont typeface="Arial" panose="020B0604020202020204" pitchFamily="34" charset="0"/>
              <a:buChar char="•"/>
              <a:defRPr/>
            </a:pPr>
            <a:r>
              <a:rPr lang="en-US" sz="8400" b="1" dirty="0">
                <a:latin typeface="Arial" pitchFamily="34" charset="0"/>
                <a:cs typeface="Arial" pitchFamily="34" charset="0"/>
              </a:rPr>
              <a:t> POLICY REGARDING CELL PHONES/PAGERS</a:t>
            </a:r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defRPr/>
            </a:pPr>
            <a:endParaRPr lang="en-US" dirty="0"/>
          </a:p>
          <a:p>
            <a:pPr algn="l">
              <a:defRPr/>
            </a:pPr>
            <a:endParaRPr lang="en-US" dirty="0"/>
          </a:p>
          <a:p>
            <a:pPr algn="l">
              <a:defRPr/>
            </a:pPr>
            <a:r>
              <a:rPr lang="en-US" sz="1600" dirty="0"/>
              <a:t> </a:t>
            </a:r>
          </a:p>
          <a:p>
            <a:pPr algn="l">
              <a:defRPr/>
            </a:pPr>
            <a:endParaRPr lang="en-US" sz="16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24000" y="1447800"/>
            <a:ext cx="1066800" cy="5410200"/>
          </a:xfrm>
          <a:prstGeom prst="rect">
            <a:avLst/>
          </a:prstGeom>
          <a:gradFill flip="none" rotWithShape="1">
            <a:gsLst>
              <a:gs pos="0">
                <a:srgbClr val="EC1010">
                  <a:tint val="66000"/>
                  <a:satMod val="160000"/>
                </a:srgbClr>
              </a:gs>
              <a:gs pos="50000">
                <a:srgbClr val="EC1010">
                  <a:tint val="44500"/>
                  <a:satMod val="160000"/>
                </a:srgbClr>
              </a:gs>
              <a:gs pos="100000">
                <a:srgbClr val="EC101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600200"/>
          </a:xfrm>
          <a:solidFill>
            <a:srgbClr val="EC1010"/>
          </a:solidFill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sz="40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ADMINISTRATIVE </a:t>
            </a:r>
            <a:r>
              <a:rPr lang="en-US" sz="4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ITEMS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5D2BE-B0D4-4AC6-A9D6-1740EFEF459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380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2776152" y="2460024"/>
            <a:ext cx="8592064" cy="3614352"/>
          </a:xfrm>
        </p:spPr>
        <p:txBody>
          <a:bodyPr rtlCol="0">
            <a:normAutofit fontScale="25000" lnSpcReduction="20000"/>
          </a:bodyPr>
          <a:lstStyle/>
          <a:p>
            <a:pPr>
              <a:defRPr/>
            </a:pPr>
            <a:r>
              <a:rPr lang="en-US" sz="12800" b="1" dirty="0" smtClean="0">
                <a:latin typeface="Arial" pitchFamily="34" charset="0"/>
                <a:cs typeface="Arial" pitchFamily="34" charset="0"/>
              </a:rPr>
              <a:t>TO TEACH THE BASIC KNOWLEDGE RELATING TO THE LEGAL ASPECTS OF SOUTH CAROLINA LAW AS IT PERTAINS TO THE CONCEALED WEAPONS AND CONCEALED WEAPONS PERMITS</a:t>
            </a:r>
          </a:p>
          <a:p>
            <a:pPr>
              <a:defRPr/>
            </a:pPr>
            <a:r>
              <a:rPr lang="en-US" sz="12800" b="1" dirty="0" smtClean="0">
                <a:latin typeface="Arial" pitchFamily="34" charset="0"/>
                <a:cs typeface="Arial" pitchFamily="34" charset="0"/>
              </a:rPr>
              <a:t>AND</a:t>
            </a:r>
          </a:p>
          <a:p>
            <a:pPr>
              <a:defRPr/>
            </a:pPr>
            <a:r>
              <a:rPr lang="en-US" sz="12800" b="1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US" sz="12800" b="1" dirty="0">
                <a:latin typeface="Arial" pitchFamily="34" charset="0"/>
                <a:cs typeface="Arial" pitchFamily="34" charset="0"/>
              </a:rPr>
              <a:t>BASIC KNOWLEDGE, SKILLS AND ATTITUDE NECESSARY FOR OWNING AND USING A PISTOL SAFELY.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sz="1600" dirty="0"/>
              <a:t> </a:t>
            </a:r>
          </a:p>
          <a:p>
            <a:pPr>
              <a:defRPr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  <a:defRPr/>
            </a:pP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24000" y="1676400"/>
            <a:ext cx="1066800" cy="5181600"/>
          </a:xfrm>
          <a:prstGeom prst="rect">
            <a:avLst/>
          </a:prstGeom>
          <a:gradFill flip="none" rotWithShape="1">
            <a:gsLst>
              <a:gs pos="0">
                <a:srgbClr val="EC1010">
                  <a:tint val="66000"/>
                  <a:satMod val="160000"/>
                </a:srgbClr>
              </a:gs>
              <a:gs pos="50000">
                <a:srgbClr val="EC1010">
                  <a:tint val="44500"/>
                  <a:satMod val="160000"/>
                </a:srgbClr>
              </a:gs>
              <a:gs pos="100000">
                <a:srgbClr val="EC101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102" name="Title 3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981200"/>
          </a:xfrm>
          <a:solidFill>
            <a:srgbClr val="EC1010"/>
          </a:solidFill>
        </p:spPr>
        <p:txBody>
          <a:bodyPr/>
          <a:lstStyle/>
          <a:p>
            <a:pPr eaLnBrk="1" hangingPunct="1"/>
            <a:r>
              <a:rPr lang="en-US" altLang="en-US" sz="1600" dirty="0"/>
              <a:t/>
            </a:r>
            <a:br>
              <a:rPr lang="en-US" altLang="en-US" sz="1600" dirty="0"/>
            </a:br>
            <a:r>
              <a:rPr lang="en-US" altLang="en-US" sz="1600" dirty="0">
                <a:solidFill>
                  <a:schemeClr val="bg1"/>
                </a:solidFill>
              </a:rPr>
              <a:t/>
            </a:r>
            <a:br>
              <a:rPr lang="en-US" altLang="en-US" sz="1600" dirty="0">
                <a:solidFill>
                  <a:schemeClr val="bg1"/>
                </a:solidFill>
              </a:rPr>
            </a:br>
            <a:r>
              <a:rPr lang="en-US" altLang="en-US" sz="1300" dirty="0">
                <a:solidFill>
                  <a:schemeClr val="bg1"/>
                </a:solidFill>
              </a:rPr>
              <a:t/>
            </a:r>
            <a:br>
              <a:rPr lang="en-US" altLang="en-US" sz="1300" dirty="0">
                <a:solidFill>
                  <a:schemeClr val="bg1"/>
                </a:solidFill>
              </a:rPr>
            </a:br>
            <a:r>
              <a:rPr lang="en-US" altLang="en-US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GOAL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5D2BE-B0D4-4AC6-A9D6-1740EFEF459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6781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200400" y="2133600"/>
            <a:ext cx="6477000" cy="3657600"/>
          </a:xfrm>
        </p:spPr>
        <p:txBody>
          <a:bodyPr rtlCol="0">
            <a:normAutofit fontScale="25000" lnSpcReduction="20000"/>
          </a:bodyPr>
          <a:lstStyle/>
          <a:p>
            <a:pPr indent="-457200" algn="l">
              <a:lnSpc>
                <a:spcPct val="17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US" sz="8000" b="1" dirty="0">
                <a:latin typeface="Arial" panose="020B0604020202020204" pitchFamily="34" charset="0"/>
                <a:cs typeface="Arial" panose="020B0604020202020204" pitchFamily="34" charset="0"/>
              </a:rPr>
              <a:t>Do I </a:t>
            </a:r>
            <a:r>
              <a:rPr lang="en-US" sz="8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completely understand </a:t>
            </a:r>
            <a:r>
              <a:rPr lang="en-US" sz="8000" b="1" dirty="0">
                <a:latin typeface="Arial" panose="020B0604020202020204" pitchFamily="34" charset="0"/>
                <a:cs typeface="Arial" panose="020B0604020202020204" pitchFamily="34" charset="0"/>
              </a:rPr>
              <a:t>the legalities of </a:t>
            </a:r>
            <a:r>
              <a:rPr lang="en-US" sz="8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carrying a concealed weapon?</a:t>
            </a:r>
          </a:p>
          <a:p>
            <a:pPr indent="-457200" algn="l">
              <a:lnSpc>
                <a:spcPct val="17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US" sz="8000" b="1" dirty="0">
                <a:latin typeface="Arial" panose="020B0604020202020204" pitchFamily="34" charset="0"/>
                <a:cs typeface="Arial" panose="020B0604020202020204" pitchFamily="34" charset="0"/>
              </a:rPr>
              <a:t>Am I prepared to alter my daily routine?</a:t>
            </a:r>
            <a:endParaRPr lang="en-US" sz="8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-457200" algn="l">
              <a:lnSpc>
                <a:spcPct val="17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US" sz="8000" b="1" dirty="0">
                <a:latin typeface="Arial" panose="020B0604020202020204" pitchFamily="34" charset="0"/>
                <a:cs typeface="Arial" panose="020B0604020202020204" pitchFamily="34" charset="0"/>
              </a:rPr>
              <a:t>What is my </a:t>
            </a:r>
            <a:r>
              <a:rPr lang="en-US" sz="8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plan on when/where/how to use a gun</a:t>
            </a:r>
            <a:r>
              <a:rPr lang="en-US" sz="8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for self-defense?</a:t>
            </a:r>
          </a:p>
          <a:p>
            <a:pPr indent="-457200" algn="l">
              <a:lnSpc>
                <a:spcPct val="17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US" sz="8000" b="1" dirty="0">
                <a:latin typeface="Arial" panose="020B0604020202020204" pitchFamily="34" charset="0"/>
                <a:cs typeface="Arial" panose="020B0604020202020204" pitchFamily="34" charset="0"/>
              </a:rPr>
              <a:t>How much training </a:t>
            </a:r>
            <a:r>
              <a:rPr lang="en-US" sz="8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and/or </a:t>
            </a:r>
            <a:r>
              <a:rPr lang="en-US" sz="8000" b="1" dirty="0">
                <a:latin typeface="Arial" panose="020B0604020202020204" pitchFamily="34" charset="0"/>
                <a:cs typeface="Arial" panose="020B0604020202020204" pitchFamily="34" charset="0"/>
              </a:rPr>
              <a:t>practice do I need</a:t>
            </a:r>
            <a:r>
              <a:rPr lang="en-US" sz="8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dirty="0"/>
          </a:p>
        </p:txBody>
      </p:sp>
      <p:sp>
        <p:nvSpPr>
          <p:cNvPr id="6147" name="TextBox 4"/>
          <p:cNvSpPr txBox="1">
            <a:spLocks noChangeArrowheads="1"/>
          </p:cNvSpPr>
          <p:nvPr/>
        </p:nvSpPr>
        <p:spPr bwMode="auto">
          <a:xfrm>
            <a:off x="5105400" y="6096001"/>
            <a:ext cx="4495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400" dirty="0">
              <a:solidFill>
                <a:prstClr val="black"/>
              </a:solidFill>
            </a:endParaRPr>
          </a:p>
          <a:p>
            <a:pPr eaLnBrk="1" hangingPunct="1"/>
            <a:r>
              <a:rPr lang="en-US" altLang="en-US" sz="1400" dirty="0" smtClean="0">
                <a:solidFill>
                  <a:prstClr val="black"/>
                </a:solidFill>
              </a:rPr>
              <a:t>                                   </a:t>
            </a:r>
            <a:endParaRPr lang="en-US" altLang="en-US" sz="1400" dirty="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24000" y="1676400"/>
            <a:ext cx="1371600" cy="5181600"/>
          </a:xfrm>
          <a:prstGeom prst="rect">
            <a:avLst/>
          </a:prstGeom>
          <a:gradFill flip="none" rotWithShape="1">
            <a:gsLst>
              <a:gs pos="0">
                <a:srgbClr val="EC1010">
                  <a:tint val="66000"/>
                  <a:satMod val="160000"/>
                </a:srgbClr>
              </a:gs>
              <a:gs pos="50000">
                <a:srgbClr val="EC1010">
                  <a:tint val="44500"/>
                  <a:satMod val="160000"/>
                </a:srgbClr>
              </a:gs>
              <a:gs pos="100000">
                <a:srgbClr val="EC101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150" name="Title 3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905000"/>
          </a:xfrm>
          <a:solidFill>
            <a:srgbClr val="EC1010"/>
          </a:solidFill>
        </p:spPr>
        <p:txBody>
          <a:bodyPr/>
          <a:lstStyle/>
          <a:p>
            <a:pPr eaLnBrk="1" hangingPunct="1"/>
            <a:r>
              <a:rPr lang="en-US" altLang="en-US" sz="32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do you want to carry a concealed weapon??</a:t>
            </a:r>
            <a:endParaRPr lang="en-US" altLang="en-US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5D2BE-B0D4-4AC6-A9D6-1740EFEF459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6554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200400" y="2133600"/>
            <a:ext cx="6477000" cy="3657600"/>
          </a:xfrm>
        </p:spPr>
        <p:txBody>
          <a:bodyPr rtlCol="0">
            <a:normAutofit fontScale="25000" lnSpcReduction="20000"/>
          </a:bodyPr>
          <a:lstStyle/>
          <a:p>
            <a:pPr algn="l">
              <a:defRPr/>
            </a:pPr>
            <a:r>
              <a:rPr lang="en-US" sz="9600" b="1" dirty="0">
                <a:latin typeface="Arial" pitchFamily="34" charset="0"/>
                <a:cs typeface="Arial" pitchFamily="34" charset="0"/>
              </a:rPr>
              <a:t>LEARNING OBJECTIVES:</a:t>
            </a:r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7200" b="1" dirty="0">
              <a:latin typeface="Arial" pitchFamily="34" charset="0"/>
              <a:cs typeface="Arial" pitchFamily="34" charset="0"/>
            </a:endParaRPr>
          </a:p>
          <a:p>
            <a:pPr algn="l">
              <a:buFont typeface="Arial" panose="020B0604020202020204" pitchFamily="34" charset="0"/>
              <a:buChar char="•"/>
              <a:defRPr/>
            </a:pPr>
            <a:r>
              <a:rPr lang="en-US" sz="7200" b="1" dirty="0">
                <a:latin typeface="Arial" pitchFamily="34" charset="0"/>
                <a:cs typeface="Arial" pitchFamily="34" charset="0"/>
              </a:rPr>
              <a:t>STATE THE COURSE GOAL AND ANY SPECIAL </a:t>
            </a:r>
          </a:p>
          <a:p>
            <a:pPr algn="l">
              <a:defRPr/>
            </a:pPr>
            <a:r>
              <a:rPr lang="en-US" sz="7200" b="1" dirty="0">
                <a:latin typeface="Arial" pitchFamily="34" charset="0"/>
                <a:cs typeface="Arial" pitchFamily="34" charset="0"/>
              </a:rPr>
              <a:t>  REQUIREMENTS FOR THE LESSONS</a:t>
            </a:r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7200" b="1" dirty="0">
              <a:latin typeface="Arial" pitchFamily="34" charset="0"/>
              <a:cs typeface="Arial" pitchFamily="34" charset="0"/>
            </a:endParaRPr>
          </a:p>
          <a:p>
            <a:pPr algn="l">
              <a:buFont typeface="Arial" panose="020B0604020202020204" pitchFamily="34" charset="0"/>
              <a:buChar char="•"/>
              <a:defRPr/>
            </a:pPr>
            <a:r>
              <a:rPr lang="en-US" sz="7200" b="1" dirty="0">
                <a:latin typeface="Arial" pitchFamily="34" charset="0"/>
                <a:cs typeface="Arial" pitchFamily="34" charset="0"/>
              </a:rPr>
              <a:t> IDENTIFY THE PRINCIPAL PARTS OF A PISTOL AND </a:t>
            </a:r>
          </a:p>
          <a:p>
            <a:pPr algn="l">
              <a:defRPr/>
            </a:pPr>
            <a:r>
              <a:rPr lang="en-US" sz="7200" b="1" dirty="0">
                <a:latin typeface="Arial" pitchFamily="34" charset="0"/>
                <a:cs typeface="Arial" pitchFamily="34" charset="0"/>
              </a:rPr>
              <a:t>  THE TYPES OF PISTOL  ACTIONS, AND DEMONSTRATE </a:t>
            </a:r>
          </a:p>
          <a:p>
            <a:pPr algn="l">
              <a:defRPr/>
            </a:pPr>
            <a:r>
              <a:rPr lang="en-US" sz="7200" b="1" dirty="0">
                <a:latin typeface="Arial" pitchFamily="34" charset="0"/>
                <a:cs typeface="Arial" pitchFamily="34" charset="0"/>
              </a:rPr>
              <a:t>  HOW THEY FUNCTION</a:t>
            </a:r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7200" b="1" dirty="0">
              <a:latin typeface="Arial" pitchFamily="34" charset="0"/>
              <a:cs typeface="Arial" pitchFamily="34" charset="0"/>
            </a:endParaRPr>
          </a:p>
          <a:p>
            <a:pPr indent="63500" algn="l">
              <a:buFont typeface="Arial" panose="020B0604020202020204" pitchFamily="34" charset="0"/>
              <a:buChar char="•"/>
              <a:defRPr/>
            </a:pPr>
            <a:r>
              <a:rPr lang="en-US" sz="7200" b="1" dirty="0">
                <a:latin typeface="Arial" pitchFamily="34" charset="0"/>
                <a:cs typeface="Arial" pitchFamily="34" charset="0"/>
              </a:rPr>
              <a:t> STATE, EXPLAIN AND APPLY THE NRA RULES FOR </a:t>
            </a:r>
          </a:p>
          <a:p>
            <a:pPr indent="63500" algn="l">
              <a:defRPr/>
            </a:pPr>
            <a:r>
              <a:rPr lang="en-US" sz="7200" b="1" dirty="0">
                <a:latin typeface="Arial" pitchFamily="34" charset="0"/>
                <a:cs typeface="Arial" pitchFamily="34" charset="0"/>
              </a:rPr>
              <a:t> SAFE  GUN HANDLING</a:t>
            </a:r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7200" b="1" dirty="0">
              <a:latin typeface="Arial" pitchFamily="34" charset="0"/>
              <a:cs typeface="Arial" pitchFamily="34" charset="0"/>
            </a:endParaRPr>
          </a:p>
          <a:p>
            <a:pPr algn="l">
              <a:buFont typeface="Arial" panose="020B0604020202020204" pitchFamily="34" charset="0"/>
              <a:buChar char="•"/>
              <a:defRPr/>
            </a:pPr>
            <a:r>
              <a:rPr lang="en-US" sz="7200" b="1" dirty="0">
                <a:latin typeface="Arial" pitchFamily="34" charset="0"/>
                <a:cs typeface="Arial" pitchFamily="34" charset="0"/>
              </a:rPr>
              <a:t> DEMONSTRATE HOW TO HANDLE A PISTOL IN A SAFE </a:t>
            </a:r>
          </a:p>
          <a:p>
            <a:pPr algn="l">
              <a:defRPr/>
            </a:pPr>
            <a:r>
              <a:rPr lang="en-US" sz="7200" b="1" dirty="0">
                <a:latin typeface="Arial" pitchFamily="34" charset="0"/>
                <a:cs typeface="Arial" pitchFamily="34" charset="0"/>
              </a:rPr>
              <a:t>  MANNER</a:t>
            </a:r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b="1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defRPr/>
            </a:pPr>
            <a:endParaRPr lang="en-US" dirty="0"/>
          </a:p>
          <a:p>
            <a:pPr algn="l">
              <a:defRPr/>
            </a:pPr>
            <a:endParaRPr lang="en-US" dirty="0"/>
          </a:p>
          <a:p>
            <a:pPr algn="l">
              <a:defRPr/>
            </a:pPr>
            <a:r>
              <a:rPr lang="en-US" sz="1600" dirty="0"/>
              <a:t> </a:t>
            </a:r>
          </a:p>
          <a:p>
            <a:pPr algn="l">
              <a:defRPr/>
            </a:pPr>
            <a:endParaRPr lang="en-US" sz="16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</p:txBody>
      </p:sp>
      <p:sp>
        <p:nvSpPr>
          <p:cNvPr id="6147" name="TextBox 4"/>
          <p:cNvSpPr txBox="1">
            <a:spLocks noChangeArrowheads="1"/>
          </p:cNvSpPr>
          <p:nvPr/>
        </p:nvSpPr>
        <p:spPr bwMode="auto">
          <a:xfrm>
            <a:off x="5105400" y="6096001"/>
            <a:ext cx="4495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400" dirty="0">
              <a:solidFill>
                <a:prstClr val="black"/>
              </a:solidFill>
            </a:endParaRPr>
          </a:p>
          <a:p>
            <a:pPr eaLnBrk="1" hangingPunct="1"/>
            <a:r>
              <a:rPr lang="en-US" altLang="en-US" sz="1400" dirty="0" smtClean="0">
                <a:solidFill>
                  <a:prstClr val="black"/>
                </a:solidFill>
              </a:rPr>
              <a:t>                                   </a:t>
            </a:r>
            <a:endParaRPr lang="en-US" altLang="en-US" sz="1400" dirty="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24000" y="1676400"/>
            <a:ext cx="1371600" cy="5181600"/>
          </a:xfrm>
          <a:prstGeom prst="rect">
            <a:avLst/>
          </a:prstGeom>
          <a:gradFill flip="none" rotWithShape="1">
            <a:gsLst>
              <a:gs pos="0">
                <a:srgbClr val="EC1010">
                  <a:tint val="66000"/>
                  <a:satMod val="160000"/>
                </a:srgbClr>
              </a:gs>
              <a:gs pos="50000">
                <a:srgbClr val="EC1010">
                  <a:tint val="44500"/>
                  <a:satMod val="160000"/>
                </a:srgbClr>
              </a:gs>
              <a:gs pos="100000">
                <a:srgbClr val="EC101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150" name="Title 3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905000"/>
          </a:xfrm>
          <a:solidFill>
            <a:srgbClr val="EC1010"/>
          </a:solidFill>
        </p:spPr>
        <p:txBody>
          <a:bodyPr/>
          <a:lstStyle/>
          <a:p>
            <a:pPr eaLnBrk="1" hangingPunct="1"/>
            <a:r>
              <a:rPr lang="en-US" altLang="en-US" sz="32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LESSON </a:t>
            </a:r>
            <a:r>
              <a:rPr lang="en-US" alt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I: PISTOL KNOWLEDGE AND </a:t>
            </a:r>
            <a:br>
              <a:rPr lang="en-US" alt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SAFE GUN HANDLING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5D2BE-B0D4-4AC6-A9D6-1740EFEF459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307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124200" y="2286000"/>
            <a:ext cx="6781800" cy="3505200"/>
          </a:xfrm>
        </p:spPr>
        <p:txBody>
          <a:bodyPr rtlCol="0">
            <a:normAutofit fontScale="25000" lnSpcReduction="20000"/>
          </a:bodyPr>
          <a:lstStyle/>
          <a:p>
            <a:pPr algn="l">
              <a:lnSpc>
                <a:spcPts val="2200"/>
              </a:lnSpc>
              <a:defRPr/>
            </a:pPr>
            <a:r>
              <a:rPr lang="en-US" sz="9600" b="1" i="1" dirty="0">
                <a:latin typeface="Arial" pitchFamily="34" charset="0"/>
                <a:cs typeface="Arial" pitchFamily="34" charset="0"/>
              </a:rPr>
              <a:t>IGNORANCE</a:t>
            </a:r>
            <a:r>
              <a:rPr lang="en-US" sz="8000" b="1" dirty="0">
                <a:latin typeface="Arial" pitchFamily="34" charset="0"/>
                <a:cs typeface="Arial" pitchFamily="34" charset="0"/>
              </a:rPr>
              <a:t> (LACK OF KNOWLEDGE)</a:t>
            </a:r>
          </a:p>
          <a:p>
            <a:pPr algn="l">
              <a:lnSpc>
                <a:spcPts val="2200"/>
              </a:lnSpc>
              <a:buFont typeface="Arial" panose="020B0604020202020204" pitchFamily="34" charset="0"/>
              <a:buChar char="•"/>
              <a:defRPr/>
            </a:pPr>
            <a:r>
              <a:rPr lang="en-US" sz="8000" b="1" dirty="0">
                <a:latin typeface="Arial" pitchFamily="34" charset="0"/>
                <a:cs typeface="Arial" pitchFamily="34" charset="0"/>
              </a:rPr>
              <a:t> IGNORANCE OF RULES FOR SAFE GUN HANDLING</a:t>
            </a:r>
          </a:p>
          <a:p>
            <a:pPr algn="l">
              <a:lnSpc>
                <a:spcPts val="2200"/>
              </a:lnSpc>
              <a:buFont typeface="Arial" panose="020B0604020202020204" pitchFamily="34" charset="0"/>
              <a:buChar char="•"/>
              <a:defRPr/>
            </a:pPr>
            <a:r>
              <a:rPr lang="en-US" sz="8000" b="1" dirty="0">
                <a:latin typeface="Arial" pitchFamily="34" charset="0"/>
                <a:cs typeface="Arial" pitchFamily="34" charset="0"/>
              </a:rPr>
              <a:t> IGNORANCE OF THE PROPER AND SAFE WAY TO </a:t>
            </a:r>
          </a:p>
          <a:p>
            <a:pPr algn="l">
              <a:lnSpc>
                <a:spcPts val="2200"/>
              </a:lnSpc>
              <a:defRPr/>
            </a:pPr>
            <a:r>
              <a:rPr lang="en-US" sz="8000" b="1" dirty="0">
                <a:latin typeface="Arial" pitchFamily="34" charset="0"/>
                <a:cs typeface="Arial" pitchFamily="34" charset="0"/>
              </a:rPr>
              <a:t>  OPERATE A PISTOL</a:t>
            </a:r>
          </a:p>
          <a:p>
            <a:pPr algn="l">
              <a:defRPr/>
            </a:pPr>
            <a:endParaRPr lang="en-US" sz="8000" b="1" dirty="0">
              <a:latin typeface="Arial" pitchFamily="34" charset="0"/>
              <a:cs typeface="Arial" pitchFamily="34" charset="0"/>
            </a:endParaRPr>
          </a:p>
          <a:p>
            <a:pPr algn="l">
              <a:lnSpc>
                <a:spcPts val="1800"/>
              </a:lnSpc>
              <a:defRPr/>
            </a:pPr>
            <a:r>
              <a:rPr lang="en-US" sz="9600" b="1" i="1" dirty="0">
                <a:latin typeface="Arial" pitchFamily="34" charset="0"/>
                <a:cs typeface="Arial" pitchFamily="34" charset="0"/>
              </a:rPr>
              <a:t>CARELESSNESS</a:t>
            </a:r>
            <a:r>
              <a:rPr lang="en-US" sz="96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8000" b="1" dirty="0">
                <a:latin typeface="Arial" pitchFamily="34" charset="0"/>
                <a:cs typeface="Arial" pitchFamily="34" charset="0"/>
              </a:rPr>
              <a:t>(POOR OR IMPROPER ATTITUDE)</a:t>
            </a:r>
          </a:p>
          <a:p>
            <a:pPr algn="l">
              <a:lnSpc>
                <a:spcPts val="2200"/>
              </a:lnSpc>
              <a:buFont typeface="Arial" panose="020B0604020202020204" pitchFamily="34" charset="0"/>
              <a:buChar char="•"/>
              <a:defRPr/>
            </a:pPr>
            <a:r>
              <a:rPr lang="en-US" sz="8000" b="1" dirty="0">
                <a:latin typeface="Arial" pitchFamily="34" charset="0"/>
                <a:cs typeface="Arial" pitchFamily="34" charset="0"/>
              </a:rPr>
              <a:t> FAILURE TO APPLY THE RULES FOR SAFE GUN </a:t>
            </a:r>
          </a:p>
          <a:p>
            <a:pPr algn="l">
              <a:lnSpc>
                <a:spcPts val="2200"/>
              </a:lnSpc>
              <a:defRPr/>
            </a:pPr>
            <a:r>
              <a:rPr lang="en-US" sz="8000" b="1" dirty="0">
                <a:latin typeface="Arial" pitchFamily="34" charset="0"/>
                <a:cs typeface="Arial" pitchFamily="34" charset="0"/>
              </a:rPr>
              <a:t>  HANDLING</a:t>
            </a:r>
          </a:p>
          <a:p>
            <a:pPr algn="l">
              <a:lnSpc>
                <a:spcPts val="2200"/>
              </a:lnSpc>
              <a:buFont typeface="Arial" panose="020B0604020202020204" pitchFamily="34" charset="0"/>
              <a:buChar char="•"/>
              <a:defRPr/>
            </a:pPr>
            <a:r>
              <a:rPr lang="en-US" sz="8000" b="1" dirty="0">
                <a:latin typeface="Arial" pitchFamily="34" charset="0"/>
                <a:cs typeface="Arial" pitchFamily="34" charset="0"/>
              </a:rPr>
              <a:t> FAILURE TO OBSERVE PROPER PROCEDURES FOR </a:t>
            </a:r>
          </a:p>
          <a:p>
            <a:pPr algn="l">
              <a:lnSpc>
                <a:spcPts val="2200"/>
              </a:lnSpc>
              <a:defRPr/>
            </a:pPr>
            <a:r>
              <a:rPr lang="en-US" sz="8000" b="1" dirty="0">
                <a:latin typeface="Arial" pitchFamily="34" charset="0"/>
                <a:cs typeface="Arial" pitchFamily="34" charset="0"/>
              </a:rPr>
              <a:t>  SAFELY OPERATING A PISTOL</a:t>
            </a:r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defRPr/>
            </a:pPr>
            <a:endParaRPr lang="en-US" dirty="0"/>
          </a:p>
          <a:p>
            <a:pPr algn="l">
              <a:defRPr/>
            </a:pPr>
            <a:endParaRPr lang="en-US" dirty="0"/>
          </a:p>
          <a:p>
            <a:pPr algn="l">
              <a:defRPr/>
            </a:pPr>
            <a:r>
              <a:rPr lang="en-US" sz="1600" dirty="0"/>
              <a:t> </a:t>
            </a:r>
          </a:p>
          <a:p>
            <a:pPr algn="l">
              <a:defRPr/>
            </a:pPr>
            <a:endParaRPr lang="en-US" sz="16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</p:txBody>
      </p:sp>
      <p:sp>
        <p:nvSpPr>
          <p:cNvPr id="23555" name="TextBox 4"/>
          <p:cNvSpPr txBox="1">
            <a:spLocks noChangeArrowheads="1"/>
          </p:cNvSpPr>
          <p:nvPr/>
        </p:nvSpPr>
        <p:spPr bwMode="auto">
          <a:xfrm>
            <a:off x="5105400" y="6096001"/>
            <a:ext cx="4495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400" dirty="0">
              <a:solidFill>
                <a:prstClr val="black"/>
              </a:solidFill>
            </a:endParaRPr>
          </a:p>
          <a:p>
            <a:pPr eaLnBrk="1" hangingPunct="1"/>
            <a:r>
              <a:rPr lang="en-US" altLang="en-US" sz="1400" dirty="0" smtClean="0">
                <a:solidFill>
                  <a:prstClr val="black"/>
                </a:solidFill>
              </a:rPr>
              <a:t>                                   </a:t>
            </a:r>
            <a:endParaRPr lang="en-US" altLang="en-US" sz="1400" dirty="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24000" y="1600200"/>
            <a:ext cx="1066800" cy="5257800"/>
          </a:xfrm>
          <a:prstGeom prst="rect">
            <a:avLst/>
          </a:prstGeom>
          <a:gradFill flip="none" rotWithShape="1">
            <a:gsLst>
              <a:gs pos="0">
                <a:srgbClr val="EC1010">
                  <a:tint val="66000"/>
                  <a:satMod val="160000"/>
                </a:srgbClr>
              </a:gs>
              <a:gs pos="50000">
                <a:srgbClr val="EC1010">
                  <a:tint val="44500"/>
                  <a:satMod val="160000"/>
                </a:srgbClr>
              </a:gs>
              <a:gs pos="100000">
                <a:srgbClr val="EC101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3558" name="Title 3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905000"/>
          </a:xfrm>
          <a:solidFill>
            <a:srgbClr val="EC1010"/>
          </a:solidFill>
        </p:spPr>
        <p:txBody>
          <a:bodyPr/>
          <a:lstStyle/>
          <a:p>
            <a:pPr eaLnBrk="1" hangingPunct="1"/>
            <a:r>
              <a:rPr lang="en-US" altLang="en-US" sz="3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CAUSES </a:t>
            </a:r>
            <a:r>
              <a:rPr lang="en-US" alt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FIREARM ACCIDENTS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5D2BE-B0D4-4AC6-A9D6-1740EFEF459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0426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124200" y="2362200"/>
            <a:ext cx="6781800" cy="3429000"/>
          </a:xfrm>
        </p:spPr>
        <p:txBody>
          <a:bodyPr rtlCol="0">
            <a:normAutofit fontScale="25000" lnSpcReduction="20000"/>
          </a:bodyPr>
          <a:lstStyle/>
          <a:p>
            <a:pPr algn="l">
              <a:buFont typeface="Arial" panose="020B0604020202020204" pitchFamily="34" charset="0"/>
              <a:buChar char="•"/>
              <a:defRPr/>
            </a:pPr>
            <a:r>
              <a:rPr lang="en-US" sz="9600" b="1" i="1" u="sng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ALWAYS</a:t>
            </a:r>
            <a:r>
              <a:rPr lang="en-US" sz="9600" b="1" dirty="0">
                <a:latin typeface="Arial" pitchFamily="34" charset="0"/>
                <a:cs typeface="Arial" pitchFamily="34" charset="0"/>
              </a:rPr>
              <a:t> KEEP THE GUN POINTED IN A</a:t>
            </a:r>
          </a:p>
          <a:p>
            <a:pPr algn="l">
              <a:defRPr/>
            </a:pPr>
            <a:r>
              <a:rPr lang="en-US" sz="9600" b="1" dirty="0">
                <a:latin typeface="Arial" pitchFamily="34" charset="0"/>
                <a:cs typeface="Arial" pitchFamily="34" charset="0"/>
              </a:rPr>
              <a:t>  SAFE DIRECTION</a:t>
            </a:r>
          </a:p>
          <a:p>
            <a:pPr algn="l">
              <a:defRPr/>
            </a:pPr>
            <a:endParaRPr lang="en-US" sz="9600" b="1" dirty="0">
              <a:latin typeface="Arial" pitchFamily="34" charset="0"/>
              <a:cs typeface="Arial" pitchFamily="34" charset="0"/>
            </a:endParaRPr>
          </a:p>
          <a:p>
            <a:pPr algn="l">
              <a:buFont typeface="Arial" panose="020B0604020202020204" pitchFamily="34" charset="0"/>
              <a:buChar char="•"/>
              <a:defRPr/>
            </a:pPr>
            <a:r>
              <a:rPr lang="en-US" sz="9600" b="1" i="1" u="sng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ALWAYS</a:t>
            </a:r>
            <a:r>
              <a:rPr lang="en-US" sz="9600" b="1" dirty="0">
                <a:latin typeface="Arial" pitchFamily="34" charset="0"/>
                <a:cs typeface="Arial" pitchFamily="34" charset="0"/>
              </a:rPr>
              <a:t> KEEP YOUR FINGER OFF THE </a:t>
            </a:r>
          </a:p>
          <a:p>
            <a:pPr algn="l">
              <a:defRPr/>
            </a:pPr>
            <a:r>
              <a:rPr lang="en-US" sz="9600" b="1" dirty="0">
                <a:latin typeface="Arial" pitchFamily="34" charset="0"/>
                <a:cs typeface="Arial" pitchFamily="34" charset="0"/>
              </a:rPr>
              <a:t>  TRIGGER UNTIL READY TO SHOOT</a:t>
            </a:r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9600" b="1" dirty="0">
              <a:latin typeface="Arial" pitchFamily="34" charset="0"/>
              <a:cs typeface="Arial" pitchFamily="34" charset="0"/>
            </a:endParaRPr>
          </a:p>
          <a:p>
            <a:pPr algn="l">
              <a:buFont typeface="Arial" panose="020B0604020202020204" pitchFamily="34" charset="0"/>
              <a:buChar char="•"/>
              <a:defRPr/>
            </a:pPr>
            <a:r>
              <a:rPr lang="en-US" sz="9600" b="1" i="1" u="sng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ALWAYS</a:t>
            </a:r>
            <a:r>
              <a:rPr lang="en-US" sz="9600" b="1" dirty="0">
                <a:latin typeface="Arial" pitchFamily="34" charset="0"/>
                <a:cs typeface="Arial" pitchFamily="34" charset="0"/>
              </a:rPr>
              <a:t> KEEP THE GUN UNLOADED</a:t>
            </a:r>
          </a:p>
          <a:p>
            <a:pPr algn="l">
              <a:defRPr/>
            </a:pPr>
            <a:r>
              <a:rPr lang="en-US" sz="9600" b="1" dirty="0">
                <a:latin typeface="Arial" pitchFamily="34" charset="0"/>
                <a:cs typeface="Arial" pitchFamily="34" charset="0"/>
              </a:rPr>
              <a:t>  UNTIL READY TO USE</a:t>
            </a:r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defRPr/>
            </a:pPr>
            <a:endParaRPr lang="en-US" dirty="0"/>
          </a:p>
          <a:p>
            <a:pPr algn="l">
              <a:defRPr/>
            </a:pPr>
            <a:endParaRPr lang="en-US" dirty="0"/>
          </a:p>
          <a:p>
            <a:pPr algn="l">
              <a:defRPr/>
            </a:pPr>
            <a:r>
              <a:rPr lang="en-US" sz="1600" dirty="0"/>
              <a:t> </a:t>
            </a:r>
          </a:p>
          <a:p>
            <a:pPr algn="l">
              <a:defRPr/>
            </a:pPr>
            <a:endParaRPr lang="en-US" sz="16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</p:txBody>
      </p:sp>
      <p:sp>
        <p:nvSpPr>
          <p:cNvPr id="24579" name="TextBox 4"/>
          <p:cNvSpPr txBox="1">
            <a:spLocks noChangeArrowheads="1"/>
          </p:cNvSpPr>
          <p:nvPr/>
        </p:nvSpPr>
        <p:spPr bwMode="auto">
          <a:xfrm>
            <a:off x="5105400" y="6096001"/>
            <a:ext cx="4495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400" dirty="0">
              <a:solidFill>
                <a:prstClr val="black"/>
              </a:solidFill>
            </a:endParaRPr>
          </a:p>
          <a:p>
            <a:pPr eaLnBrk="1" hangingPunct="1"/>
            <a:r>
              <a:rPr lang="en-US" altLang="en-US" sz="1400" dirty="0" smtClean="0">
                <a:solidFill>
                  <a:prstClr val="black"/>
                </a:solidFill>
              </a:rPr>
              <a:t>                                   </a:t>
            </a:r>
            <a:endParaRPr lang="en-US" altLang="en-US" sz="1400" dirty="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24000" y="1600200"/>
            <a:ext cx="1219200" cy="5257800"/>
          </a:xfrm>
          <a:prstGeom prst="rect">
            <a:avLst/>
          </a:prstGeom>
          <a:gradFill flip="none" rotWithShape="1">
            <a:gsLst>
              <a:gs pos="0">
                <a:srgbClr val="EC1010">
                  <a:tint val="66000"/>
                  <a:satMod val="160000"/>
                </a:srgbClr>
              </a:gs>
              <a:gs pos="50000">
                <a:srgbClr val="EC1010">
                  <a:tint val="44500"/>
                  <a:satMod val="160000"/>
                </a:srgbClr>
              </a:gs>
              <a:gs pos="100000">
                <a:srgbClr val="EC101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4582" name="Title 3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905000"/>
          </a:xfrm>
          <a:solidFill>
            <a:srgbClr val="EC1010"/>
          </a:solidFill>
        </p:spPr>
        <p:txBody>
          <a:bodyPr/>
          <a:lstStyle/>
          <a:p>
            <a:pPr eaLnBrk="1" hangingPunct="1"/>
            <a:r>
              <a:rPr lang="en-US" altLang="en-US" sz="32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NRA </a:t>
            </a:r>
            <a:r>
              <a:rPr lang="en-US" alt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RULES FOR SAFE GUN HANDLING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5D2BE-B0D4-4AC6-A9D6-1740EFEF459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8691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524000" y="2286000"/>
            <a:ext cx="9959546" cy="3505200"/>
          </a:xfrm>
        </p:spPr>
        <p:txBody>
          <a:bodyPr rtlCol="0">
            <a:normAutofit fontScale="25000" lnSpcReduction="20000"/>
          </a:bodyPr>
          <a:lstStyle/>
          <a:p>
            <a:pPr marL="1371600" indent="-1371600" algn="l">
              <a:lnSpc>
                <a:spcPts val="2200"/>
              </a:lnSpc>
              <a:buFont typeface="Arial" panose="020B0604020202020204" pitchFamily="34" charset="0"/>
              <a:buChar char="•"/>
              <a:defRPr/>
            </a:pPr>
            <a:r>
              <a:rPr lang="en-US" sz="9600" b="1" i="1" dirty="0" smtClean="0">
                <a:latin typeface="Arial" pitchFamily="34" charset="0"/>
                <a:cs typeface="Arial" pitchFamily="34" charset="0"/>
              </a:rPr>
              <a:t>Treat all firearms as if they are always loaded.</a:t>
            </a:r>
          </a:p>
          <a:p>
            <a:pPr algn="l">
              <a:lnSpc>
                <a:spcPts val="2200"/>
              </a:lnSpc>
              <a:defRPr/>
            </a:pPr>
            <a:endParaRPr lang="en-US" sz="9600" b="1" i="1" dirty="0" smtClean="0">
              <a:latin typeface="Arial" pitchFamily="34" charset="0"/>
              <a:cs typeface="Arial" pitchFamily="34" charset="0"/>
            </a:endParaRPr>
          </a:p>
          <a:p>
            <a:pPr marL="1371600" indent="-1371600" algn="l">
              <a:lnSpc>
                <a:spcPts val="2200"/>
              </a:lnSpc>
              <a:buFont typeface="Arial" panose="020B0604020202020204" pitchFamily="34" charset="0"/>
              <a:buChar char="•"/>
              <a:defRPr/>
            </a:pPr>
            <a:r>
              <a:rPr lang="en-US" sz="9600" b="1" i="1" dirty="0" smtClean="0">
                <a:latin typeface="Arial" pitchFamily="34" charset="0"/>
                <a:cs typeface="Arial" pitchFamily="34" charset="0"/>
              </a:rPr>
              <a:t>Always point all firearms in a safe direction.</a:t>
            </a:r>
          </a:p>
          <a:p>
            <a:pPr algn="l">
              <a:lnSpc>
                <a:spcPts val="2200"/>
              </a:lnSpc>
              <a:defRPr/>
            </a:pPr>
            <a:endParaRPr lang="en-US" sz="9600" b="1" i="1" dirty="0" smtClean="0">
              <a:latin typeface="Arial" pitchFamily="34" charset="0"/>
              <a:cs typeface="Arial" pitchFamily="34" charset="0"/>
            </a:endParaRPr>
          </a:p>
          <a:p>
            <a:pPr marL="1371600" indent="-1371600" algn="l">
              <a:lnSpc>
                <a:spcPts val="2200"/>
              </a:lnSpc>
              <a:buFont typeface="Arial" panose="020B0604020202020204" pitchFamily="34" charset="0"/>
              <a:buChar char="•"/>
              <a:defRPr/>
            </a:pPr>
            <a:r>
              <a:rPr lang="en-US" sz="9600" b="1" i="1" dirty="0" smtClean="0">
                <a:latin typeface="Arial" pitchFamily="34" charset="0"/>
                <a:cs typeface="Arial" pitchFamily="34" charset="0"/>
              </a:rPr>
              <a:t>Keep your finger outside the trigger guard until you have decided to fire.</a:t>
            </a:r>
          </a:p>
          <a:p>
            <a:pPr algn="l">
              <a:lnSpc>
                <a:spcPts val="2200"/>
              </a:lnSpc>
              <a:defRPr/>
            </a:pPr>
            <a:endParaRPr lang="en-US" sz="9600" b="1" i="1" dirty="0" smtClean="0">
              <a:latin typeface="Arial" pitchFamily="34" charset="0"/>
              <a:cs typeface="Arial" pitchFamily="34" charset="0"/>
            </a:endParaRPr>
          </a:p>
          <a:p>
            <a:pPr marL="1371600" indent="-1371600" algn="l">
              <a:lnSpc>
                <a:spcPts val="2200"/>
              </a:lnSpc>
              <a:buFont typeface="Arial" panose="020B0604020202020204" pitchFamily="34" charset="0"/>
              <a:buChar char="•"/>
              <a:defRPr/>
            </a:pPr>
            <a:r>
              <a:rPr lang="en-US" sz="9600" b="1" i="1" dirty="0" smtClean="0">
                <a:latin typeface="Arial" pitchFamily="34" charset="0"/>
                <a:cs typeface="Arial" pitchFamily="34" charset="0"/>
              </a:rPr>
              <a:t>Be sure of your target and what is beyond it.</a:t>
            </a: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defRPr/>
            </a:pPr>
            <a:endParaRPr lang="en-US" dirty="0"/>
          </a:p>
          <a:p>
            <a:pPr algn="l">
              <a:defRPr/>
            </a:pPr>
            <a:endParaRPr lang="en-US" dirty="0"/>
          </a:p>
          <a:p>
            <a:pPr algn="l">
              <a:defRPr/>
            </a:pPr>
            <a:r>
              <a:rPr lang="en-US" sz="1600" dirty="0"/>
              <a:t> </a:t>
            </a:r>
          </a:p>
          <a:p>
            <a:pPr algn="l">
              <a:defRPr/>
            </a:pPr>
            <a:endParaRPr lang="en-US" sz="16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24000" y="1600200"/>
            <a:ext cx="1066800" cy="5257800"/>
          </a:xfrm>
          <a:prstGeom prst="rect">
            <a:avLst/>
          </a:prstGeom>
          <a:gradFill flip="none" rotWithShape="1">
            <a:gsLst>
              <a:gs pos="0">
                <a:srgbClr val="EC1010">
                  <a:tint val="66000"/>
                  <a:satMod val="160000"/>
                </a:srgbClr>
              </a:gs>
              <a:gs pos="50000">
                <a:srgbClr val="EC1010">
                  <a:tint val="44500"/>
                  <a:satMod val="160000"/>
                </a:srgbClr>
              </a:gs>
              <a:gs pos="100000">
                <a:srgbClr val="EC101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3558" name="Title 3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905000"/>
          </a:xfrm>
          <a:solidFill>
            <a:srgbClr val="EC1010"/>
          </a:solidFill>
        </p:spPr>
        <p:txBody>
          <a:bodyPr/>
          <a:lstStyle/>
          <a:p>
            <a:pPr eaLnBrk="1" hangingPunct="1"/>
            <a:r>
              <a:rPr lang="en-US" altLang="en-US" sz="3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SLED’S FOUR CARDINAL RULES OF FIREARM SAFETY</a:t>
            </a:r>
            <a:endParaRPr lang="en-US" altLang="en-US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5D2BE-B0D4-4AC6-A9D6-1740EFEF459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7180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7772400" y="2133600"/>
            <a:ext cx="2590800" cy="3657600"/>
          </a:xfrm>
        </p:spPr>
        <p:txBody>
          <a:bodyPr rtlCol="0">
            <a:normAutofit fontScale="25000" lnSpcReduction="20000"/>
          </a:bodyPr>
          <a:lstStyle/>
          <a:p>
            <a:pPr algn="l">
              <a:lnSpc>
                <a:spcPts val="2200"/>
              </a:lnSpc>
              <a:defRPr/>
            </a:pPr>
            <a:r>
              <a:rPr lang="en-US" sz="8400" b="1" dirty="0">
                <a:latin typeface="Arial" pitchFamily="34" charset="0"/>
                <a:cs typeface="Arial" pitchFamily="34" charset="0"/>
              </a:rPr>
              <a:t>WITH THE PISTOL POINTED IN A SAFE DIRECTION, THE INDEX FINGER SHOULD BE PLACED ALONGSIDE THE FRAME OF THE PISTOL, ABOVE AND AWAY FROM THE TRIGGER GUARD.</a:t>
            </a:r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defRPr/>
            </a:pPr>
            <a:endParaRPr lang="en-US" dirty="0"/>
          </a:p>
          <a:p>
            <a:pPr algn="l">
              <a:defRPr/>
            </a:pPr>
            <a:endParaRPr lang="en-US" dirty="0"/>
          </a:p>
          <a:p>
            <a:pPr algn="l">
              <a:defRPr/>
            </a:pPr>
            <a:r>
              <a:rPr lang="en-US" sz="1600" dirty="0"/>
              <a:t> </a:t>
            </a:r>
          </a:p>
          <a:p>
            <a:pPr algn="l">
              <a:defRPr/>
            </a:pPr>
            <a:endParaRPr lang="en-US" sz="16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</p:txBody>
      </p:sp>
      <p:sp>
        <p:nvSpPr>
          <p:cNvPr id="25603" name="TextBox 4"/>
          <p:cNvSpPr txBox="1">
            <a:spLocks noChangeArrowheads="1"/>
          </p:cNvSpPr>
          <p:nvPr/>
        </p:nvSpPr>
        <p:spPr bwMode="auto">
          <a:xfrm>
            <a:off x="5105400" y="6096001"/>
            <a:ext cx="4495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400" dirty="0">
              <a:solidFill>
                <a:prstClr val="black"/>
              </a:solidFill>
            </a:endParaRPr>
          </a:p>
          <a:p>
            <a:pPr eaLnBrk="1" hangingPunct="1"/>
            <a:r>
              <a:rPr lang="en-US" altLang="en-US" sz="1400" dirty="0" smtClean="0">
                <a:solidFill>
                  <a:prstClr val="black"/>
                </a:solidFill>
              </a:rPr>
              <a:t>                                   </a:t>
            </a:r>
            <a:endParaRPr lang="en-US" altLang="en-US" sz="1400" dirty="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24000" y="1600200"/>
            <a:ext cx="1219200" cy="5257800"/>
          </a:xfrm>
          <a:prstGeom prst="rect">
            <a:avLst/>
          </a:prstGeom>
          <a:gradFill flip="none" rotWithShape="1">
            <a:gsLst>
              <a:gs pos="0">
                <a:srgbClr val="EC1010">
                  <a:tint val="66000"/>
                  <a:satMod val="160000"/>
                </a:srgbClr>
              </a:gs>
              <a:gs pos="50000">
                <a:srgbClr val="EC1010">
                  <a:tint val="44500"/>
                  <a:satMod val="160000"/>
                </a:srgbClr>
              </a:gs>
              <a:gs pos="100000">
                <a:srgbClr val="EC101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5606" name="Title 3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905000"/>
          </a:xfrm>
          <a:solidFill>
            <a:srgbClr val="EC1010"/>
          </a:solidFill>
        </p:spPr>
        <p:txBody>
          <a:bodyPr/>
          <a:lstStyle/>
          <a:p>
            <a:pPr eaLnBrk="1" hangingPunct="1"/>
            <a:r>
              <a:rPr lang="en-US" altLang="en-US" sz="3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SAFE </a:t>
            </a:r>
            <a:r>
              <a:rPr lang="en-US" alt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TRIGGER FINGER POSITION</a:t>
            </a:r>
          </a:p>
        </p:txBody>
      </p:sp>
      <p:pic>
        <p:nvPicPr>
          <p:cNvPr id="25607" name="Picture 8" descr="safetrigger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62" t="8333" r="12595" b="8333"/>
          <a:stretch>
            <a:fillRect/>
          </a:stretch>
        </p:blipFill>
        <p:spPr bwMode="auto">
          <a:xfrm>
            <a:off x="3048000" y="2133600"/>
            <a:ext cx="4495800" cy="3657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5D2BE-B0D4-4AC6-A9D6-1740EFEF459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5280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124200" y="2286000"/>
            <a:ext cx="7010400" cy="3581400"/>
          </a:xfrm>
        </p:spPr>
        <p:txBody>
          <a:bodyPr rtlCol="0">
            <a:normAutofit fontScale="25000" lnSpcReduction="20000"/>
          </a:bodyPr>
          <a:lstStyle/>
          <a:p>
            <a:pPr algn="l" eaLnBrk="1" fontAlgn="auto" hangingPunct="1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6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KNOW YOUR TARGET AND WHAT IS BEYOND</a:t>
            </a:r>
          </a:p>
          <a:p>
            <a:pPr algn="l" eaLnBrk="1" fontAlgn="auto" hangingPunct="1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40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l" eaLnBrk="1" fontAlgn="auto" hangingPunct="1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6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BE SURE THE GUN IS SAFE TO OPERATE</a:t>
            </a:r>
          </a:p>
          <a:p>
            <a:pPr algn="l" eaLnBrk="1" fontAlgn="auto" hangingPunct="1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40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l" eaLnBrk="1" fontAlgn="auto" hangingPunct="1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6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KNOW HOW TO USE THE GUN SAFELY</a:t>
            </a:r>
          </a:p>
          <a:p>
            <a:pPr algn="l" eaLnBrk="1" fontAlgn="auto" hangingPunct="1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40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l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6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USE ONLY THE CORRECT AMMUNITION FOR YOUR GUN</a:t>
            </a:r>
          </a:p>
          <a:p>
            <a:pPr algn="l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endParaRPr lang="en-US" sz="40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l" eaLnBrk="1" fontAlgn="auto" hangingPunct="1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6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WEAR EYE AND EAR PROTECTION AS APPROPRIATE</a:t>
            </a:r>
          </a:p>
          <a:p>
            <a:pPr algn="l" eaLnBrk="1" fontAlgn="auto" hangingPunct="1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40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l" eaLnBrk="1" fontAlgn="auto" hangingPunct="1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6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NEVER USE ALCOHOL OR DRUGS BEFORE OR WHILE SHOOTING</a:t>
            </a:r>
          </a:p>
          <a:p>
            <a:pPr algn="l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endParaRPr lang="en-US" sz="40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6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STORE GUNS SO THAT THEY ARE NOT ACCESSIBLE TO</a:t>
            </a:r>
          </a:p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6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UNAUTHORIZED PERSONS</a:t>
            </a:r>
          </a:p>
          <a:p>
            <a:pPr algn="l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endParaRPr lang="en-US" sz="40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6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BE AWARE THAT CERTAIN TYPES OF GUNS AND MANY  </a:t>
            </a:r>
          </a:p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6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SHOOTING  ACTIVITIES REQUIRE ADDITIONAL SAFETY</a:t>
            </a:r>
          </a:p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6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PRECAUTIONS</a:t>
            </a: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 eaLnBrk="1" fontAlgn="auto" hangingPunct="1">
              <a:spcAft>
                <a:spcPts val="0"/>
              </a:spcAft>
              <a:defRPr/>
            </a:pPr>
            <a:endParaRPr lang="en-US" sz="2400" dirty="0"/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2400" dirty="0"/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2400" dirty="0"/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2400" dirty="0"/>
          </a:p>
          <a:p>
            <a:pPr algn="l" eaLnBrk="1" fontAlgn="auto" hangingPunct="1">
              <a:spcAft>
                <a:spcPts val="0"/>
              </a:spcAft>
              <a:defRPr/>
            </a:pPr>
            <a:endParaRPr lang="en-US" sz="2400" dirty="0"/>
          </a:p>
          <a:p>
            <a:pPr algn="l" eaLnBrk="1" fontAlgn="auto" hangingPunct="1">
              <a:spcAft>
                <a:spcPts val="0"/>
              </a:spcAft>
              <a:defRPr/>
            </a:pPr>
            <a:endParaRPr lang="en-US" sz="2400" dirty="0"/>
          </a:p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1600" dirty="0"/>
              <a:t> </a:t>
            </a:r>
          </a:p>
          <a:p>
            <a:pPr algn="l" eaLnBrk="1" fontAlgn="auto" hangingPunct="1">
              <a:spcAft>
                <a:spcPts val="0"/>
              </a:spcAft>
              <a:defRPr/>
            </a:pPr>
            <a:endParaRPr lang="en-US" sz="1600" dirty="0"/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2400" dirty="0"/>
          </a:p>
        </p:txBody>
      </p:sp>
      <p:sp>
        <p:nvSpPr>
          <p:cNvPr id="5123" name="TextBox 4"/>
          <p:cNvSpPr txBox="1">
            <a:spLocks noChangeArrowheads="1"/>
          </p:cNvSpPr>
          <p:nvPr/>
        </p:nvSpPr>
        <p:spPr bwMode="auto">
          <a:xfrm>
            <a:off x="5105400" y="6096001"/>
            <a:ext cx="4495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400" dirty="0">
              <a:solidFill>
                <a:prstClr val="black"/>
              </a:solidFill>
            </a:endParaRPr>
          </a:p>
          <a:p>
            <a:pPr eaLnBrk="1" hangingPunct="1"/>
            <a:r>
              <a:rPr lang="en-US" altLang="en-US" sz="1400" dirty="0" smtClean="0">
                <a:solidFill>
                  <a:prstClr val="black"/>
                </a:solidFill>
              </a:rPr>
              <a:t>                                   </a:t>
            </a:r>
            <a:endParaRPr lang="en-US" altLang="en-US" sz="1400" dirty="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24000" y="1600200"/>
            <a:ext cx="1219200" cy="5257800"/>
          </a:xfrm>
          <a:prstGeom prst="rect">
            <a:avLst/>
          </a:prstGeom>
          <a:gradFill flip="none" rotWithShape="1">
            <a:gsLst>
              <a:gs pos="0">
                <a:srgbClr val="EC1010">
                  <a:tint val="66000"/>
                  <a:satMod val="160000"/>
                </a:srgbClr>
              </a:gs>
              <a:gs pos="50000">
                <a:srgbClr val="EC1010">
                  <a:tint val="44500"/>
                  <a:satMod val="160000"/>
                </a:srgbClr>
              </a:gs>
              <a:gs pos="100000">
                <a:srgbClr val="EC101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2057400"/>
          </a:xfrm>
          <a:solidFill>
            <a:srgbClr val="EC1010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NRA </a:t>
            </a:r>
            <a:r>
              <a:rPr lang="en-US" sz="4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RULES FOR</a:t>
            </a:r>
            <a:br>
              <a:rPr lang="en-US" sz="4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en-US" sz="4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USING AND STORING A GUN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9422F-C6FB-443C-AFA0-5F2C0BBB7E46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049501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276600" y="2362200"/>
            <a:ext cx="6629400" cy="3581400"/>
          </a:xfrm>
        </p:spPr>
        <p:txBody>
          <a:bodyPr rtlCol="0">
            <a:normAutofit fontScale="25000" lnSpcReduction="20000"/>
          </a:bodyPr>
          <a:lstStyle/>
          <a:p>
            <a:pPr algn="l" eaLnBrk="1" fontAlgn="auto" hangingPunct="1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6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STORE GUNS AND AMMUNITION SO THAT </a:t>
            </a:r>
          </a:p>
          <a:p>
            <a:pPr algn="l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96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THEY ARE NOT ACCESSIBLE TO </a:t>
            </a:r>
          </a:p>
          <a:p>
            <a:pPr algn="l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96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UNAUTHORIZED PERSONS</a:t>
            </a: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9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l" eaLnBrk="1" fontAlgn="auto" hangingPunct="1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6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STORE GUNS AND AMMUNITION</a:t>
            </a:r>
          </a:p>
          <a:p>
            <a:pPr algn="l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96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SEPARATELY</a:t>
            </a: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9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l" eaLnBrk="1" fontAlgn="auto" hangingPunct="1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6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STORE </a:t>
            </a:r>
            <a:r>
              <a:rPr lang="en-US" sz="96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GUNS AND AMMUNITION IN A</a:t>
            </a:r>
          </a:p>
          <a:p>
            <a:pPr algn="l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96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COOL, DRY PLACE</a:t>
            </a:r>
          </a:p>
          <a:p>
            <a:pPr algn="l" eaLnBrk="1" fontAlgn="auto" hangingPunct="1">
              <a:spcAft>
                <a:spcPts val="0"/>
              </a:spcAft>
              <a:defRPr/>
            </a:pPr>
            <a:endParaRPr lang="en-US" sz="4200" b="1" dirty="0">
              <a:solidFill>
                <a:schemeClr val="tx1"/>
              </a:solidFill>
            </a:endParaRP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9600" dirty="0"/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 eaLnBrk="1" fontAlgn="auto" hangingPunct="1">
              <a:spcAft>
                <a:spcPts val="0"/>
              </a:spcAft>
              <a:defRPr/>
            </a:pPr>
            <a:endParaRPr lang="en-US" sz="2400" dirty="0"/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2400" dirty="0"/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2400" dirty="0"/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2400" dirty="0"/>
          </a:p>
          <a:p>
            <a:pPr algn="l" eaLnBrk="1" fontAlgn="auto" hangingPunct="1">
              <a:spcAft>
                <a:spcPts val="0"/>
              </a:spcAft>
              <a:defRPr/>
            </a:pPr>
            <a:endParaRPr lang="en-US" sz="2400" dirty="0"/>
          </a:p>
          <a:p>
            <a:pPr algn="l" eaLnBrk="1" fontAlgn="auto" hangingPunct="1">
              <a:spcAft>
                <a:spcPts val="0"/>
              </a:spcAft>
              <a:defRPr/>
            </a:pPr>
            <a:endParaRPr lang="en-US" sz="2400" dirty="0"/>
          </a:p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1600" dirty="0"/>
              <a:t> </a:t>
            </a:r>
          </a:p>
          <a:p>
            <a:pPr algn="l" eaLnBrk="1" fontAlgn="auto" hangingPunct="1">
              <a:spcAft>
                <a:spcPts val="0"/>
              </a:spcAft>
              <a:defRPr/>
            </a:pPr>
            <a:endParaRPr lang="en-US" sz="1600" dirty="0"/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2400" dirty="0"/>
          </a:p>
        </p:txBody>
      </p:sp>
      <p:sp>
        <p:nvSpPr>
          <p:cNvPr id="11267" name="TextBox 4"/>
          <p:cNvSpPr txBox="1">
            <a:spLocks noChangeArrowheads="1"/>
          </p:cNvSpPr>
          <p:nvPr/>
        </p:nvSpPr>
        <p:spPr bwMode="auto">
          <a:xfrm>
            <a:off x="5105400" y="6096001"/>
            <a:ext cx="4495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400" dirty="0">
              <a:solidFill>
                <a:prstClr val="black"/>
              </a:solidFill>
            </a:endParaRPr>
          </a:p>
          <a:p>
            <a:pPr eaLnBrk="1" hangingPunct="1"/>
            <a:r>
              <a:rPr lang="en-US" altLang="en-US" sz="1400" dirty="0" smtClean="0">
                <a:solidFill>
                  <a:prstClr val="black"/>
                </a:solidFill>
              </a:rPr>
              <a:t>                                   </a:t>
            </a:r>
            <a:endParaRPr lang="en-US" altLang="en-US" sz="1400" dirty="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24000" y="1447800"/>
            <a:ext cx="1295400" cy="5410200"/>
          </a:xfrm>
          <a:prstGeom prst="rect">
            <a:avLst/>
          </a:prstGeom>
          <a:gradFill flip="none" rotWithShape="1">
            <a:gsLst>
              <a:gs pos="0">
                <a:srgbClr val="EC1010">
                  <a:tint val="66000"/>
                  <a:satMod val="160000"/>
                </a:srgbClr>
              </a:gs>
              <a:gs pos="50000">
                <a:srgbClr val="EC1010">
                  <a:tint val="44500"/>
                  <a:satMod val="160000"/>
                </a:srgbClr>
              </a:gs>
              <a:gs pos="100000">
                <a:srgbClr val="EC101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270" name="Title 3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828800"/>
          </a:xfrm>
          <a:solidFill>
            <a:srgbClr val="EC1010"/>
          </a:solidFill>
        </p:spPr>
        <p:txBody>
          <a:bodyPr/>
          <a:lstStyle/>
          <a:p>
            <a:pPr eaLnBrk="1" hangingPunct="1"/>
            <a:r>
              <a:rPr lang="en-US" altLang="en-US" sz="3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PISTOL </a:t>
            </a:r>
            <a:r>
              <a:rPr lang="en-US" alt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STORAGE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9422F-C6FB-443C-AFA0-5F2C0BBB7E46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758572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733800" y="2514600"/>
            <a:ext cx="5943600" cy="3276600"/>
          </a:xfrm>
        </p:spPr>
        <p:txBody>
          <a:bodyPr rtlCol="0">
            <a:normAutofit fontScale="25000" lnSpcReduction="20000"/>
          </a:bodyPr>
          <a:lstStyle/>
          <a:p>
            <a:pPr algn="l">
              <a:buFont typeface="Arial" panose="020B0604020202020204" pitchFamily="34" charset="0"/>
              <a:buChar char="•"/>
              <a:defRPr/>
            </a:pPr>
            <a:r>
              <a:rPr lang="en-US" sz="11200" b="1" dirty="0">
                <a:latin typeface="Arial" pitchFamily="34" charset="0"/>
                <a:cs typeface="Arial" pitchFamily="34" charset="0"/>
              </a:rPr>
              <a:t> SEMI-AUTOMATIC PISTOL</a:t>
            </a:r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11200" b="1" dirty="0">
              <a:latin typeface="Arial" pitchFamily="34" charset="0"/>
              <a:cs typeface="Arial" pitchFamily="34" charset="0"/>
            </a:endParaRPr>
          </a:p>
          <a:p>
            <a:pPr algn="l">
              <a:buFont typeface="Arial" panose="020B0604020202020204" pitchFamily="34" charset="0"/>
              <a:buChar char="•"/>
              <a:defRPr/>
            </a:pPr>
            <a:r>
              <a:rPr lang="en-US" sz="11200" b="1" dirty="0">
                <a:latin typeface="Arial" pitchFamily="34" charset="0"/>
                <a:cs typeface="Arial" pitchFamily="34" charset="0"/>
              </a:rPr>
              <a:t> SINGLE-ACTION REVOLVER</a:t>
            </a:r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11200" b="1" dirty="0">
              <a:latin typeface="Arial" pitchFamily="34" charset="0"/>
              <a:cs typeface="Arial" pitchFamily="34" charset="0"/>
            </a:endParaRPr>
          </a:p>
          <a:p>
            <a:pPr algn="l">
              <a:buFont typeface="Arial" panose="020B0604020202020204" pitchFamily="34" charset="0"/>
              <a:buChar char="•"/>
              <a:defRPr/>
            </a:pPr>
            <a:r>
              <a:rPr lang="en-US" sz="11200" b="1" dirty="0">
                <a:latin typeface="Arial" pitchFamily="34" charset="0"/>
                <a:cs typeface="Arial" pitchFamily="34" charset="0"/>
              </a:rPr>
              <a:t> DOUBLE-ACTION REVOLVER</a:t>
            </a:r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b="1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defRPr/>
            </a:pPr>
            <a:endParaRPr lang="en-US" dirty="0"/>
          </a:p>
          <a:p>
            <a:pPr algn="l">
              <a:defRPr/>
            </a:pPr>
            <a:endParaRPr lang="en-US" dirty="0"/>
          </a:p>
          <a:p>
            <a:pPr algn="l">
              <a:defRPr/>
            </a:pPr>
            <a:r>
              <a:rPr lang="en-US" sz="1600" dirty="0"/>
              <a:t> </a:t>
            </a:r>
          </a:p>
          <a:p>
            <a:pPr algn="l">
              <a:defRPr/>
            </a:pPr>
            <a:endParaRPr lang="en-US" sz="16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</p:txBody>
      </p:sp>
      <p:sp>
        <p:nvSpPr>
          <p:cNvPr id="8195" name="TextBox 4"/>
          <p:cNvSpPr txBox="1">
            <a:spLocks noChangeArrowheads="1"/>
          </p:cNvSpPr>
          <p:nvPr/>
        </p:nvSpPr>
        <p:spPr bwMode="auto">
          <a:xfrm>
            <a:off x="5105400" y="6096001"/>
            <a:ext cx="4495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400" dirty="0">
              <a:solidFill>
                <a:prstClr val="black"/>
              </a:solidFill>
            </a:endParaRPr>
          </a:p>
          <a:p>
            <a:pPr eaLnBrk="1" hangingPunct="1"/>
            <a:r>
              <a:rPr lang="en-US" altLang="en-US" sz="1400" dirty="0" smtClean="0">
                <a:solidFill>
                  <a:prstClr val="black"/>
                </a:solidFill>
              </a:rPr>
              <a:t>                                   </a:t>
            </a:r>
            <a:endParaRPr lang="en-US" altLang="en-US" sz="1400" dirty="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24000" y="1600200"/>
            <a:ext cx="1524000" cy="5257800"/>
          </a:xfrm>
          <a:prstGeom prst="rect">
            <a:avLst/>
          </a:prstGeom>
          <a:gradFill flip="none" rotWithShape="1">
            <a:gsLst>
              <a:gs pos="0">
                <a:srgbClr val="EC1010">
                  <a:tint val="66000"/>
                  <a:satMod val="160000"/>
                </a:srgbClr>
              </a:gs>
              <a:gs pos="50000">
                <a:srgbClr val="EC1010">
                  <a:tint val="44500"/>
                  <a:satMod val="160000"/>
                </a:srgbClr>
              </a:gs>
              <a:gs pos="100000">
                <a:srgbClr val="EC101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198" name="Title 3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905000"/>
          </a:xfrm>
          <a:solidFill>
            <a:srgbClr val="EC1010"/>
          </a:solidFill>
        </p:spPr>
        <p:txBody>
          <a:bodyPr/>
          <a:lstStyle/>
          <a:p>
            <a:pPr eaLnBrk="1" hangingPunct="1"/>
            <a:r>
              <a:rPr lang="en-US" altLang="en-US" sz="3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COMMON </a:t>
            </a:r>
            <a:r>
              <a:rPr lang="en-US" alt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PISTOL ACTION TYPES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5D2BE-B0D4-4AC6-A9D6-1740EFEF459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5227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5181600" y="2514600"/>
            <a:ext cx="4495800" cy="3276600"/>
          </a:xfrm>
        </p:spPr>
        <p:txBody>
          <a:bodyPr rtlCol="0">
            <a:normAutofit fontScale="25000" lnSpcReduction="20000"/>
          </a:bodyPr>
          <a:lstStyle/>
          <a:p>
            <a:pPr algn="l">
              <a:buFont typeface="Arial" panose="020B0604020202020204" pitchFamily="34" charset="0"/>
              <a:buChar char="•"/>
              <a:defRPr/>
            </a:pPr>
            <a:r>
              <a:rPr lang="en-US" sz="16000" b="1" dirty="0"/>
              <a:t>FRAME</a:t>
            </a:r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16000" b="1" dirty="0"/>
          </a:p>
          <a:p>
            <a:pPr algn="l">
              <a:buFont typeface="Arial" panose="020B0604020202020204" pitchFamily="34" charset="0"/>
              <a:buChar char="•"/>
              <a:defRPr/>
            </a:pPr>
            <a:r>
              <a:rPr lang="en-US" sz="16000" b="1" dirty="0"/>
              <a:t>BARREL</a:t>
            </a:r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16000" b="1" dirty="0"/>
          </a:p>
          <a:p>
            <a:pPr algn="l">
              <a:buFont typeface="Arial" panose="020B0604020202020204" pitchFamily="34" charset="0"/>
              <a:buChar char="•"/>
              <a:defRPr/>
            </a:pPr>
            <a:r>
              <a:rPr lang="en-US" sz="16000" b="1" dirty="0"/>
              <a:t>ACTION</a:t>
            </a:r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b="1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defRPr/>
            </a:pPr>
            <a:endParaRPr lang="en-US" dirty="0"/>
          </a:p>
          <a:p>
            <a:pPr algn="l">
              <a:defRPr/>
            </a:pPr>
            <a:endParaRPr lang="en-US" dirty="0"/>
          </a:p>
          <a:p>
            <a:pPr algn="l">
              <a:defRPr/>
            </a:pPr>
            <a:r>
              <a:rPr lang="en-US" sz="1600" dirty="0"/>
              <a:t> </a:t>
            </a:r>
          </a:p>
          <a:p>
            <a:pPr algn="l">
              <a:defRPr/>
            </a:pPr>
            <a:endParaRPr lang="en-US" sz="16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</p:txBody>
      </p:sp>
      <p:sp>
        <p:nvSpPr>
          <p:cNvPr id="9219" name="TextBox 4"/>
          <p:cNvSpPr txBox="1">
            <a:spLocks noChangeArrowheads="1"/>
          </p:cNvSpPr>
          <p:nvPr/>
        </p:nvSpPr>
        <p:spPr bwMode="auto">
          <a:xfrm>
            <a:off x="5105400" y="6096001"/>
            <a:ext cx="4495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400" dirty="0">
              <a:solidFill>
                <a:prstClr val="black"/>
              </a:solidFill>
            </a:endParaRPr>
          </a:p>
          <a:p>
            <a:pPr eaLnBrk="1" hangingPunct="1"/>
            <a:r>
              <a:rPr lang="en-US" altLang="en-US" sz="1400" dirty="0" smtClean="0">
                <a:solidFill>
                  <a:prstClr val="black"/>
                </a:solidFill>
              </a:rPr>
              <a:t>                                   </a:t>
            </a:r>
            <a:endParaRPr lang="en-US" altLang="en-US" sz="1400" dirty="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24000" y="1600200"/>
            <a:ext cx="1524000" cy="5257800"/>
          </a:xfrm>
          <a:prstGeom prst="rect">
            <a:avLst/>
          </a:prstGeom>
          <a:gradFill flip="none" rotWithShape="1">
            <a:gsLst>
              <a:gs pos="0">
                <a:srgbClr val="EC1010">
                  <a:tint val="66000"/>
                  <a:satMod val="160000"/>
                </a:srgbClr>
              </a:gs>
              <a:gs pos="50000">
                <a:srgbClr val="EC1010">
                  <a:tint val="44500"/>
                  <a:satMod val="160000"/>
                </a:srgbClr>
              </a:gs>
              <a:gs pos="100000">
                <a:srgbClr val="EC101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222" name="Title 3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905000"/>
          </a:xfrm>
          <a:solidFill>
            <a:srgbClr val="EC1010"/>
          </a:solidFill>
        </p:spPr>
        <p:txBody>
          <a:bodyPr/>
          <a:lstStyle/>
          <a:p>
            <a:pPr eaLnBrk="1" hangingPunct="1"/>
            <a:r>
              <a:rPr lang="en-US" altLang="en-US" sz="4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 </a:t>
            </a:r>
            <a:r>
              <a:rPr lang="en-US" alt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PARTS OF A REVOLVER</a:t>
            </a:r>
          </a:p>
        </p:txBody>
      </p:sp>
      <p:pic>
        <p:nvPicPr>
          <p:cNvPr id="9223" name="Picture 8" descr="REVOLVERPARTS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1" y="2089150"/>
            <a:ext cx="5578475" cy="377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3886200" y="3819525"/>
            <a:ext cx="14478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b="1">
                <a:solidFill>
                  <a:prstClr val="black"/>
                </a:solidFill>
              </a:rPr>
              <a:t>BARREL</a:t>
            </a:r>
          </a:p>
        </p:txBody>
      </p:sp>
      <p:cxnSp>
        <p:nvCxnSpPr>
          <p:cNvPr id="13" name="Straight Arrow Connector 12"/>
          <p:cNvCxnSpPr>
            <a:stCxn id="10" idx="0"/>
          </p:cNvCxnSpPr>
          <p:nvPr/>
        </p:nvCxnSpPr>
        <p:spPr>
          <a:xfrm rot="5400000" flipH="1" flipV="1">
            <a:off x="4357688" y="3529013"/>
            <a:ext cx="542925" cy="381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5181600" y="4572001"/>
            <a:ext cx="14478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b="1">
                <a:solidFill>
                  <a:prstClr val="black"/>
                </a:solidFill>
              </a:rPr>
              <a:t>FRAME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rot="5400000" flipH="1" flipV="1">
            <a:off x="5410200" y="4114800"/>
            <a:ext cx="685800" cy="2286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8610600" y="2362201"/>
            <a:ext cx="1981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b="1">
                <a:solidFill>
                  <a:prstClr val="black"/>
                </a:solidFill>
              </a:rPr>
              <a:t>ACTION</a:t>
            </a:r>
          </a:p>
          <a:p>
            <a:pPr eaLnBrk="1" hangingPunct="1"/>
            <a:r>
              <a:rPr lang="en-US" altLang="en-US" sz="1600" b="1">
                <a:solidFill>
                  <a:prstClr val="black"/>
                </a:solidFill>
              </a:rPr>
              <a:t>(CONTAINED WITHIN FRAME)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rot="10800000" flipV="1">
            <a:off x="7772400" y="2667000"/>
            <a:ext cx="838200" cy="3810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5D2BE-B0D4-4AC6-A9D6-1740EFEF459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8890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5257800" y="2514600"/>
            <a:ext cx="4495800" cy="3276600"/>
          </a:xfrm>
        </p:spPr>
        <p:txBody>
          <a:bodyPr rtlCol="0">
            <a:normAutofit fontScale="25000" lnSpcReduction="20000"/>
          </a:bodyPr>
          <a:lstStyle/>
          <a:p>
            <a:pPr algn="l">
              <a:buFont typeface="Arial" panose="020B0604020202020204" pitchFamily="34" charset="0"/>
              <a:buChar char="•"/>
              <a:defRPr/>
            </a:pPr>
            <a:r>
              <a:rPr lang="en-US" sz="16000" b="1" dirty="0"/>
              <a:t>FRAME</a:t>
            </a:r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16000" b="1" dirty="0"/>
          </a:p>
          <a:p>
            <a:pPr algn="l">
              <a:buFont typeface="Arial" panose="020B0604020202020204" pitchFamily="34" charset="0"/>
              <a:buChar char="•"/>
              <a:defRPr/>
            </a:pPr>
            <a:r>
              <a:rPr lang="en-US" sz="16000" b="1" dirty="0"/>
              <a:t>BARREL</a:t>
            </a:r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16000" b="1" dirty="0"/>
          </a:p>
          <a:p>
            <a:pPr algn="l">
              <a:buFont typeface="Arial" panose="020B0604020202020204" pitchFamily="34" charset="0"/>
              <a:buChar char="•"/>
              <a:defRPr/>
            </a:pPr>
            <a:r>
              <a:rPr lang="en-US" sz="16000" b="1" dirty="0"/>
              <a:t>ACTION</a:t>
            </a:r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b="1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defRPr/>
            </a:pPr>
            <a:endParaRPr lang="en-US" dirty="0"/>
          </a:p>
          <a:p>
            <a:pPr algn="l">
              <a:defRPr/>
            </a:pPr>
            <a:endParaRPr lang="en-US" dirty="0"/>
          </a:p>
          <a:p>
            <a:pPr algn="l">
              <a:defRPr/>
            </a:pPr>
            <a:r>
              <a:rPr lang="en-US" sz="1600" dirty="0"/>
              <a:t> </a:t>
            </a:r>
          </a:p>
          <a:p>
            <a:pPr algn="l">
              <a:defRPr/>
            </a:pPr>
            <a:endParaRPr lang="en-US" sz="16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</p:txBody>
      </p:sp>
      <p:sp>
        <p:nvSpPr>
          <p:cNvPr id="10243" name="TextBox 4"/>
          <p:cNvSpPr txBox="1">
            <a:spLocks noChangeArrowheads="1"/>
          </p:cNvSpPr>
          <p:nvPr/>
        </p:nvSpPr>
        <p:spPr bwMode="auto">
          <a:xfrm>
            <a:off x="5105400" y="6096001"/>
            <a:ext cx="4495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400" dirty="0">
              <a:solidFill>
                <a:prstClr val="black"/>
              </a:solidFill>
            </a:endParaRPr>
          </a:p>
          <a:p>
            <a:pPr eaLnBrk="1" hangingPunct="1"/>
            <a:r>
              <a:rPr lang="en-US" altLang="en-US" sz="1400" dirty="0" smtClean="0">
                <a:solidFill>
                  <a:prstClr val="black"/>
                </a:solidFill>
              </a:rPr>
              <a:t>                                   </a:t>
            </a:r>
            <a:endParaRPr lang="en-US" altLang="en-US" sz="1400" dirty="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24000" y="1600200"/>
            <a:ext cx="1524000" cy="5257800"/>
          </a:xfrm>
          <a:prstGeom prst="rect">
            <a:avLst/>
          </a:prstGeom>
          <a:gradFill flip="none" rotWithShape="1">
            <a:gsLst>
              <a:gs pos="0">
                <a:srgbClr val="EC1010">
                  <a:tint val="66000"/>
                  <a:satMod val="160000"/>
                </a:srgbClr>
              </a:gs>
              <a:gs pos="50000">
                <a:srgbClr val="EC1010">
                  <a:tint val="44500"/>
                  <a:satMod val="160000"/>
                </a:srgbClr>
              </a:gs>
              <a:gs pos="100000">
                <a:srgbClr val="EC101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10245" name="Picture 6" descr="NRAbw.tif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00" y="6080126"/>
            <a:ext cx="16256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Title 3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905000"/>
          </a:xfrm>
          <a:solidFill>
            <a:srgbClr val="EC1010"/>
          </a:solidFill>
        </p:spPr>
        <p:txBody>
          <a:bodyPr/>
          <a:lstStyle/>
          <a:p>
            <a:pPr eaLnBrk="1" hangingPunct="1"/>
            <a:r>
              <a:rPr lang="en-US" altLang="en-US" sz="38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REVOLVER </a:t>
            </a:r>
            <a:r>
              <a:rPr lang="en-US" altLang="en-US" sz="3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FRAME COMPONENTS</a:t>
            </a:r>
          </a:p>
        </p:txBody>
      </p:sp>
      <p:pic>
        <p:nvPicPr>
          <p:cNvPr id="10247" name="Picture 8" descr="REVOLVERPARTS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25" t="2998" b="4198"/>
          <a:stretch>
            <a:fillRect/>
          </a:stretch>
        </p:blipFill>
        <p:spPr bwMode="auto">
          <a:xfrm>
            <a:off x="3505201" y="2057401"/>
            <a:ext cx="4856163" cy="38401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3505200" y="4183064"/>
            <a:ext cx="190500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b="1">
                <a:solidFill>
                  <a:prstClr val="black"/>
                </a:solidFill>
              </a:rPr>
              <a:t>TRIGGER GUARD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4724400" y="4419600"/>
            <a:ext cx="533400" cy="3048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8610600" y="3352800"/>
            <a:ext cx="20574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b="1">
                <a:solidFill>
                  <a:prstClr val="black"/>
                </a:solidFill>
              </a:rPr>
              <a:t>BACK</a:t>
            </a:r>
          </a:p>
          <a:p>
            <a:pPr eaLnBrk="1" hangingPunct="1"/>
            <a:r>
              <a:rPr lang="en-US" altLang="en-US" sz="2200" b="1">
                <a:solidFill>
                  <a:prstClr val="black"/>
                </a:solidFill>
              </a:rPr>
              <a:t>STRAP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8610600" y="4564064"/>
            <a:ext cx="137160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b="1">
                <a:solidFill>
                  <a:prstClr val="black"/>
                </a:solidFill>
              </a:rPr>
              <a:t>GRIP PANELS</a:t>
            </a:r>
            <a:endParaRPr lang="en-US" altLang="en-US" sz="1600" b="1">
              <a:solidFill>
                <a:prstClr val="black"/>
              </a:solidFill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 rot="10800000" flipV="1">
            <a:off x="7696200" y="3733800"/>
            <a:ext cx="990600" cy="4572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rot="10800000" flipV="1">
            <a:off x="7543800" y="4953000"/>
            <a:ext cx="1066800" cy="762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7315200" y="2125664"/>
            <a:ext cx="129540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b="1">
                <a:solidFill>
                  <a:prstClr val="black"/>
                </a:solidFill>
              </a:rPr>
              <a:t>REAR </a:t>
            </a:r>
          </a:p>
          <a:p>
            <a:pPr eaLnBrk="1" hangingPunct="1"/>
            <a:r>
              <a:rPr lang="en-US" altLang="en-US" sz="2200" b="1">
                <a:solidFill>
                  <a:prstClr val="black"/>
                </a:solidFill>
              </a:rPr>
              <a:t>SIGHT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 rot="10800000">
            <a:off x="6324600" y="2286000"/>
            <a:ext cx="990600" cy="762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/>
          <p:cNvSpPr txBox="1">
            <a:spLocks noChangeArrowheads="1"/>
          </p:cNvSpPr>
          <p:nvPr/>
        </p:nvSpPr>
        <p:spPr bwMode="auto">
          <a:xfrm>
            <a:off x="3810000" y="5410201"/>
            <a:ext cx="25908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b="1">
                <a:solidFill>
                  <a:prstClr val="black"/>
                </a:solidFill>
              </a:rPr>
              <a:t>FRONT STRAP</a:t>
            </a:r>
          </a:p>
        </p:txBody>
      </p:sp>
      <p:cxnSp>
        <p:nvCxnSpPr>
          <p:cNvPr id="44" name="Straight Arrow Connector 43"/>
          <p:cNvCxnSpPr/>
          <p:nvPr/>
        </p:nvCxnSpPr>
        <p:spPr>
          <a:xfrm flipV="1">
            <a:off x="6019800" y="5257800"/>
            <a:ext cx="685800" cy="3048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5D2BE-B0D4-4AC6-A9D6-1740EFEF459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1782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4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5181600" y="2514600"/>
            <a:ext cx="4495800" cy="3276600"/>
          </a:xfrm>
        </p:spPr>
        <p:txBody>
          <a:bodyPr rtlCol="0">
            <a:normAutofit fontScale="32500" lnSpcReduction="20000"/>
          </a:bodyPr>
          <a:lstStyle/>
          <a:p>
            <a:pPr algn="l">
              <a:defRPr/>
            </a:pPr>
            <a:endParaRPr lang="en-US" sz="5100" b="1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defRPr/>
            </a:pPr>
            <a:endParaRPr lang="en-US" dirty="0"/>
          </a:p>
          <a:p>
            <a:pPr algn="l">
              <a:defRPr/>
            </a:pPr>
            <a:endParaRPr lang="en-US" dirty="0"/>
          </a:p>
          <a:p>
            <a:pPr algn="l">
              <a:defRPr/>
            </a:pPr>
            <a:r>
              <a:rPr lang="en-US" sz="1600" dirty="0"/>
              <a:t> </a:t>
            </a:r>
          </a:p>
          <a:p>
            <a:pPr algn="l">
              <a:defRPr/>
            </a:pPr>
            <a:endParaRPr lang="en-US" sz="16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</p:txBody>
      </p:sp>
      <p:sp>
        <p:nvSpPr>
          <p:cNvPr id="11267" name="TextBox 4"/>
          <p:cNvSpPr txBox="1">
            <a:spLocks noChangeArrowheads="1"/>
          </p:cNvSpPr>
          <p:nvPr/>
        </p:nvSpPr>
        <p:spPr bwMode="auto">
          <a:xfrm>
            <a:off x="5105400" y="6096001"/>
            <a:ext cx="4495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400" dirty="0">
              <a:solidFill>
                <a:prstClr val="black"/>
              </a:solidFill>
            </a:endParaRPr>
          </a:p>
          <a:p>
            <a:pPr eaLnBrk="1" hangingPunct="1"/>
            <a:r>
              <a:rPr lang="en-US" altLang="en-US" sz="1400" dirty="0" smtClean="0">
                <a:solidFill>
                  <a:prstClr val="black"/>
                </a:solidFill>
              </a:rPr>
              <a:t>                                   </a:t>
            </a:r>
            <a:endParaRPr lang="en-US" altLang="en-US" sz="1400" dirty="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24000" y="1600200"/>
            <a:ext cx="1371600" cy="5257800"/>
          </a:xfrm>
          <a:prstGeom prst="rect">
            <a:avLst/>
          </a:prstGeom>
          <a:gradFill flip="none" rotWithShape="1">
            <a:gsLst>
              <a:gs pos="0">
                <a:srgbClr val="EC1010">
                  <a:tint val="66000"/>
                  <a:satMod val="160000"/>
                </a:srgbClr>
              </a:gs>
              <a:gs pos="50000">
                <a:srgbClr val="EC1010">
                  <a:tint val="44500"/>
                  <a:satMod val="160000"/>
                </a:srgbClr>
              </a:gs>
              <a:gs pos="100000">
                <a:srgbClr val="EC101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270" name="Title 3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676400"/>
          </a:xfrm>
          <a:solidFill>
            <a:srgbClr val="EC1010"/>
          </a:solidFill>
        </p:spPr>
        <p:txBody>
          <a:bodyPr/>
          <a:lstStyle/>
          <a:p>
            <a:pPr eaLnBrk="1" hangingPunct="1"/>
            <a:r>
              <a:rPr lang="en-US" altLang="en-US" sz="4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PARTS </a:t>
            </a:r>
            <a:r>
              <a:rPr lang="en-US" alt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A REVOLVER BARREL</a:t>
            </a:r>
          </a:p>
        </p:txBody>
      </p:sp>
      <p:pic>
        <p:nvPicPr>
          <p:cNvPr id="11271" name="Picture 15" descr="revcutawaymod2copy.t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66"/>
          <a:stretch>
            <a:fillRect/>
          </a:stretch>
        </p:blipFill>
        <p:spPr bwMode="auto">
          <a:xfrm>
            <a:off x="3886200" y="2514600"/>
            <a:ext cx="6446838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3124200" y="3973514"/>
            <a:ext cx="1447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prstClr val="black"/>
                </a:solidFill>
              </a:rPr>
              <a:t>MUZZLE</a:t>
            </a: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4495800" y="2051050"/>
            <a:ext cx="259080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prstClr val="black"/>
                </a:solidFill>
              </a:rPr>
              <a:t>RIFLING </a:t>
            </a:r>
          </a:p>
          <a:p>
            <a:pPr eaLnBrk="1" hangingPunct="1"/>
            <a:r>
              <a:rPr lang="en-US" altLang="en-US" sz="1500" b="1">
                <a:solidFill>
                  <a:prstClr val="black"/>
                </a:solidFill>
              </a:rPr>
              <a:t>(LANDS &amp; GROOVES)</a:t>
            </a: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7467600" y="1905001"/>
            <a:ext cx="2209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prstClr val="black"/>
                </a:solidFill>
              </a:rPr>
              <a:t>CHAMBER  </a:t>
            </a:r>
          </a:p>
          <a:p>
            <a:pPr eaLnBrk="1" hangingPunct="1"/>
            <a:r>
              <a:rPr lang="en-US" altLang="en-US" sz="1500" b="1">
                <a:solidFill>
                  <a:prstClr val="black"/>
                </a:solidFill>
              </a:rPr>
              <a:t>(IN CYLINDER, WITH  CARTRIDGE) 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 rot="5400000" flipH="1" flipV="1">
            <a:off x="3505200" y="3505200"/>
            <a:ext cx="533400" cy="38100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rot="16200000" flipH="1">
            <a:off x="4876800" y="2895600"/>
            <a:ext cx="762000" cy="30480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rot="5400000">
            <a:off x="7239000" y="2895600"/>
            <a:ext cx="685800" cy="38100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3124200" y="1905001"/>
            <a:ext cx="1143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prstClr val="black"/>
                </a:solidFill>
              </a:rPr>
              <a:t>FRONT</a:t>
            </a:r>
          </a:p>
          <a:p>
            <a:pPr eaLnBrk="1" hangingPunct="1"/>
            <a:r>
              <a:rPr lang="en-US" altLang="en-US" b="1">
                <a:solidFill>
                  <a:prstClr val="black"/>
                </a:solidFill>
              </a:rPr>
              <a:t>SIGHT</a:t>
            </a:r>
          </a:p>
        </p:txBody>
      </p:sp>
      <p:cxnSp>
        <p:nvCxnSpPr>
          <p:cNvPr id="35" name="Straight Arrow Connector 34"/>
          <p:cNvCxnSpPr>
            <a:stCxn id="33" idx="2"/>
          </p:cNvCxnSpPr>
          <p:nvPr/>
        </p:nvCxnSpPr>
        <p:spPr>
          <a:xfrm rot="16200000" flipH="1">
            <a:off x="3694907" y="2551907"/>
            <a:ext cx="420687" cy="41910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5D2BE-B0D4-4AC6-A9D6-1740EFEF459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7565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20" grpId="0"/>
      <p:bldP spid="3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6705600" y="2514600"/>
            <a:ext cx="2971800" cy="3276600"/>
          </a:xfrm>
        </p:spPr>
        <p:txBody>
          <a:bodyPr rtlCol="0">
            <a:normAutofit fontScale="32500" lnSpcReduction="20000"/>
          </a:bodyPr>
          <a:lstStyle/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b="1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defRPr/>
            </a:pPr>
            <a:endParaRPr lang="en-US" dirty="0"/>
          </a:p>
          <a:p>
            <a:pPr algn="l">
              <a:defRPr/>
            </a:pPr>
            <a:endParaRPr lang="en-US" dirty="0"/>
          </a:p>
          <a:p>
            <a:pPr algn="l">
              <a:defRPr/>
            </a:pPr>
            <a:r>
              <a:rPr lang="en-US" sz="1600" dirty="0"/>
              <a:t> </a:t>
            </a:r>
          </a:p>
          <a:p>
            <a:pPr algn="l">
              <a:defRPr/>
            </a:pPr>
            <a:endParaRPr lang="en-US" sz="16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</p:txBody>
      </p:sp>
      <p:sp>
        <p:nvSpPr>
          <p:cNvPr id="12292" name="TextBox 4"/>
          <p:cNvSpPr txBox="1">
            <a:spLocks noChangeArrowheads="1"/>
          </p:cNvSpPr>
          <p:nvPr/>
        </p:nvSpPr>
        <p:spPr bwMode="auto">
          <a:xfrm>
            <a:off x="5105400" y="6096001"/>
            <a:ext cx="4495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400" dirty="0">
              <a:solidFill>
                <a:prstClr val="black"/>
              </a:solidFill>
            </a:endParaRPr>
          </a:p>
          <a:p>
            <a:pPr eaLnBrk="1" hangingPunct="1"/>
            <a:r>
              <a:rPr lang="en-US" altLang="en-US" sz="1400" dirty="0" smtClean="0">
                <a:solidFill>
                  <a:prstClr val="black"/>
                </a:solidFill>
              </a:rPr>
              <a:t>                                   </a:t>
            </a:r>
            <a:endParaRPr lang="en-US" altLang="en-US" sz="1400" dirty="0">
              <a:solidFill>
                <a:prstClr val="black"/>
              </a:solidFill>
            </a:endParaRPr>
          </a:p>
        </p:txBody>
      </p:sp>
      <p:sp>
        <p:nvSpPr>
          <p:cNvPr id="12293" name="TextBox 21"/>
          <p:cNvSpPr txBox="1">
            <a:spLocks noChangeArrowheads="1"/>
          </p:cNvSpPr>
          <p:nvPr/>
        </p:nvSpPr>
        <p:spPr bwMode="auto">
          <a:xfrm>
            <a:off x="6324600" y="1949450"/>
            <a:ext cx="3962400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>
                <a:solidFill>
                  <a:prstClr val="black"/>
                </a:solidFill>
              </a:rPr>
              <a:t>RIFLING</a:t>
            </a:r>
          </a:p>
          <a:p>
            <a:pPr eaLnBrk="1" hangingPunct="1"/>
            <a:r>
              <a:rPr lang="en-US" altLang="en-US" b="1">
                <a:solidFill>
                  <a:prstClr val="black"/>
                </a:solidFill>
              </a:rPr>
              <a:t>SPIRALING </a:t>
            </a:r>
            <a:r>
              <a:rPr lang="en-US" altLang="en-US" b="1" i="1">
                <a:solidFill>
                  <a:prstClr val="black"/>
                </a:solidFill>
              </a:rPr>
              <a:t>LANDS</a:t>
            </a:r>
            <a:r>
              <a:rPr lang="en-US" altLang="en-US" b="1">
                <a:solidFill>
                  <a:prstClr val="black"/>
                </a:solidFill>
              </a:rPr>
              <a:t> AND </a:t>
            </a:r>
            <a:r>
              <a:rPr lang="en-US" altLang="en-US" b="1" i="1">
                <a:solidFill>
                  <a:prstClr val="black"/>
                </a:solidFill>
              </a:rPr>
              <a:t>GROOVES</a:t>
            </a:r>
            <a:r>
              <a:rPr lang="en-US" altLang="en-US" b="1">
                <a:solidFill>
                  <a:prstClr val="black"/>
                </a:solidFill>
              </a:rPr>
              <a:t> THAT ENGRAVE THE BULLET AND GIVE IT SPIN AS IT TRAVELS THROUGH THE BORE</a:t>
            </a:r>
          </a:p>
        </p:txBody>
      </p:sp>
      <p:pic>
        <p:nvPicPr>
          <p:cNvPr id="12294" name="Picture 20" descr="riflingdrwg.t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7138" y="4114800"/>
            <a:ext cx="6443662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7772400" y="4038600"/>
            <a:ext cx="9144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prstClr val="black"/>
                </a:solidFill>
              </a:rPr>
              <a:t>LAND</a:t>
            </a: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6629400" y="4038600"/>
            <a:ext cx="12192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prstClr val="black"/>
                </a:solidFill>
              </a:rPr>
              <a:t>GROOVE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 rot="5400000">
            <a:off x="7581900" y="4533900"/>
            <a:ext cx="609600" cy="22860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rot="16200000" flipH="1">
            <a:off x="6934200" y="4648200"/>
            <a:ext cx="6096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99" name="Picture 8" descr="rimfire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4464" y="1858964"/>
            <a:ext cx="3640137" cy="2560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1524000" y="1600200"/>
            <a:ext cx="1524000" cy="5257800"/>
          </a:xfrm>
          <a:prstGeom prst="rect">
            <a:avLst/>
          </a:prstGeom>
          <a:gradFill flip="none" rotWithShape="1">
            <a:gsLst>
              <a:gs pos="0">
                <a:srgbClr val="EC1010">
                  <a:tint val="66000"/>
                  <a:satMod val="160000"/>
                </a:srgbClr>
              </a:gs>
              <a:gs pos="50000">
                <a:srgbClr val="EC1010">
                  <a:tint val="44500"/>
                  <a:satMod val="160000"/>
                </a:srgbClr>
              </a:gs>
              <a:gs pos="100000">
                <a:srgbClr val="EC101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5181600" y="3790950"/>
            <a:ext cx="10668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 b="1">
                <a:solidFill>
                  <a:prstClr val="black"/>
                </a:solidFill>
              </a:rPr>
              <a:t>GROOVE</a:t>
            </a:r>
          </a:p>
        </p:txBody>
      </p:sp>
      <p:sp>
        <p:nvSpPr>
          <p:cNvPr id="12302" name="Title 3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676400"/>
          </a:xfrm>
          <a:solidFill>
            <a:srgbClr val="EC1010"/>
          </a:solidFill>
        </p:spPr>
        <p:txBody>
          <a:bodyPr/>
          <a:lstStyle/>
          <a:p>
            <a:pPr eaLnBrk="1" hangingPunct="1"/>
            <a:r>
              <a:rPr lang="en-US" altLang="en-US" sz="4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LANDS </a:t>
            </a:r>
            <a:r>
              <a:rPr lang="en-US" alt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 GROOVES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rot="10800000">
            <a:off x="5029200" y="3429000"/>
            <a:ext cx="533400" cy="3810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3962400" y="2647950"/>
            <a:ext cx="7620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 b="1">
                <a:solidFill>
                  <a:prstClr val="black"/>
                </a:solidFill>
              </a:rPr>
              <a:t>LAND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rot="5400000">
            <a:off x="3810000" y="3124200"/>
            <a:ext cx="609600" cy="3048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5D2BE-B0D4-4AC6-A9D6-1740EFEF459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4468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11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Box 4"/>
          <p:cNvSpPr txBox="1">
            <a:spLocks noChangeArrowheads="1"/>
          </p:cNvSpPr>
          <p:nvPr/>
        </p:nvSpPr>
        <p:spPr bwMode="auto">
          <a:xfrm>
            <a:off x="5105400" y="6096001"/>
            <a:ext cx="4495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400" dirty="0">
              <a:solidFill>
                <a:prstClr val="black"/>
              </a:solidFill>
            </a:endParaRPr>
          </a:p>
          <a:p>
            <a:pPr eaLnBrk="1" hangingPunct="1"/>
            <a:r>
              <a:rPr lang="en-US" altLang="en-US" sz="1400" dirty="0" smtClean="0">
                <a:solidFill>
                  <a:prstClr val="black"/>
                </a:solidFill>
              </a:rPr>
              <a:t>                                   </a:t>
            </a:r>
            <a:endParaRPr lang="en-US" altLang="en-US" sz="1400" dirty="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24000" y="1600200"/>
            <a:ext cx="1524000" cy="5257800"/>
          </a:xfrm>
          <a:prstGeom prst="rect">
            <a:avLst/>
          </a:prstGeom>
          <a:gradFill flip="none" rotWithShape="1">
            <a:gsLst>
              <a:gs pos="0">
                <a:srgbClr val="EC1010">
                  <a:tint val="66000"/>
                  <a:satMod val="160000"/>
                </a:srgbClr>
              </a:gs>
              <a:gs pos="50000">
                <a:srgbClr val="EC1010">
                  <a:tint val="44500"/>
                  <a:satMod val="160000"/>
                </a:srgbClr>
              </a:gs>
              <a:gs pos="100000">
                <a:srgbClr val="EC101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828800"/>
          </a:xfrm>
          <a:solidFill>
            <a:srgbClr val="EC1010"/>
          </a:solidFill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sz="36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DOUBLE-ACTION </a:t>
            </a:r>
            <a:r>
              <a:rPr lang="en-US" sz="36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REVOLVER </a:t>
            </a:r>
            <a:br>
              <a:rPr lang="en-US" sz="36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en-US" sz="36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ACTION PARTS</a:t>
            </a:r>
          </a:p>
        </p:txBody>
      </p:sp>
      <p:pic>
        <p:nvPicPr>
          <p:cNvPr id="13318" name="Picture 8" descr="REVOLVERPARTS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7926" y="2165350"/>
            <a:ext cx="5578475" cy="377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5486400" y="4691064"/>
            <a:ext cx="11430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prstClr val="black"/>
                </a:solidFill>
              </a:rPr>
              <a:t>TRIGGER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8686800" y="2401888"/>
            <a:ext cx="1371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prstClr val="black"/>
                </a:solidFill>
              </a:rPr>
              <a:t>HAMMER SPUR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4267200" y="3505200"/>
            <a:ext cx="1219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prstClr val="black"/>
                </a:solidFill>
              </a:rPr>
              <a:t>EJECTOR ROD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181600" y="2057400"/>
            <a:ext cx="15240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prstClr val="black"/>
                </a:solidFill>
              </a:rPr>
              <a:t>CYLINDER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8915400" y="3267075"/>
            <a:ext cx="14478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prstClr val="black"/>
                </a:solidFill>
              </a:rPr>
              <a:t>CYLINDER RELEASE LATCH</a:t>
            </a: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7543800" y="2057400"/>
            <a:ext cx="11430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prstClr val="black"/>
                </a:solidFill>
              </a:rPr>
              <a:t>HAMMER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rot="5400000" flipH="1" flipV="1">
            <a:off x="4991100" y="3238500"/>
            <a:ext cx="381000" cy="1524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rot="5400000" flipH="1" flipV="1">
            <a:off x="6400800" y="4267200"/>
            <a:ext cx="381000" cy="3810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rot="16200000" flipH="1">
            <a:off x="6057900" y="2476500"/>
            <a:ext cx="609600" cy="3810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rot="5400000">
            <a:off x="7429500" y="2552700"/>
            <a:ext cx="381000" cy="1524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1" idx="1"/>
          </p:cNvCxnSpPr>
          <p:nvPr/>
        </p:nvCxnSpPr>
        <p:spPr>
          <a:xfrm rot="10800000" flipV="1">
            <a:off x="8001000" y="2693988"/>
            <a:ext cx="685800" cy="12541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rot="10800000">
            <a:off x="7620000" y="3276600"/>
            <a:ext cx="1295400" cy="1524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5D2BE-B0D4-4AC6-A9D6-1740EFEF459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0105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18" descr="SAREVOLVER2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2413000"/>
            <a:ext cx="6051550" cy="292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TextBox 4"/>
          <p:cNvSpPr txBox="1">
            <a:spLocks noChangeArrowheads="1"/>
          </p:cNvSpPr>
          <p:nvPr/>
        </p:nvSpPr>
        <p:spPr bwMode="auto">
          <a:xfrm>
            <a:off x="5105400" y="6096001"/>
            <a:ext cx="4495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400" dirty="0">
              <a:solidFill>
                <a:prstClr val="black"/>
              </a:solidFill>
            </a:endParaRPr>
          </a:p>
          <a:p>
            <a:pPr eaLnBrk="1" hangingPunct="1"/>
            <a:r>
              <a:rPr lang="en-US" altLang="en-US" sz="1400" dirty="0" smtClean="0">
                <a:solidFill>
                  <a:prstClr val="black"/>
                </a:solidFill>
              </a:rPr>
              <a:t>                                   </a:t>
            </a:r>
            <a:endParaRPr lang="en-US" altLang="en-US" sz="1400" dirty="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24000" y="1600200"/>
            <a:ext cx="1524000" cy="5257800"/>
          </a:xfrm>
          <a:prstGeom prst="rect">
            <a:avLst/>
          </a:prstGeom>
          <a:gradFill flip="none" rotWithShape="1">
            <a:gsLst>
              <a:gs pos="0">
                <a:srgbClr val="EC1010">
                  <a:tint val="66000"/>
                  <a:satMod val="160000"/>
                </a:srgbClr>
              </a:gs>
              <a:gs pos="50000">
                <a:srgbClr val="EC1010">
                  <a:tint val="44500"/>
                  <a:satMod val="160000"/>
                </a:srgbClr>
              </a:gs>
              <a:gs pos="100000">
                <a:srgbClr val="EC101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752600"/>
          </a:xfrm>
          <a:solidFill>
            <a:srgbClr val="EC1010"/>
          </a:solidFill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sz="36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SINGLE-ACTION </a:t>
            </a:r>
            <a:r>
              <a:rPr lang="en-US" sz="36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REVOLVER </a:t>
            </a:r>
            <a:br>
              <a:rPr lang="en-US" sz="36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en-US" sz="36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ACTION PARTS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6934200" y="4583114"/>
            <a:ext cx="11430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prstClr val="black"/>
                </a:solidFill>
              </a:rPr>
              <a:t>TRIGGER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9144000" y="2401888"/>
            <a:ext cx="1295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prstClr val="black"/>
                </a:solidFill>
              </a:rPr>
              <a:t>HAMMER SPUR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4953000" y="1905000"/>
            <a:ext cx="1219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prstClr val="black"/>
                </a:solidFill>
              </a:rPr>
              <a:t>EJECTOR ROD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6400800" y="2057400"/>
            <a:ext cx="15240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prstClr val="black"/>
                </a:solidFill>
              </a:rPr>
              <a:t>CYLINDER</a:t>
            </a: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8001000" y="1905000"/>
            <a:ext cx="11430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prstClr val="black"/>
                </a:solidFill>
              </a:rPr>
              <a:t>HAMMER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rot="16200000" flipH="1">
            <a:off x="5334000" y="2667000"/>
            <a:ext cx="685800" cy="762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rot="5400000" flipH="1" flipV="1">
            <a:off x="7467600" y="4267200"/>
            <a:ext cx="381000" cy="3810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rot="16200000" flipH="1">
            <a:off x="6896100" y="2476500"/>
            <a:ext cx="609600" cy="3810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rot="5400000">
            <a:off x="8191500" y="2400300"/>
            <a:ext cx="381000" cy="1524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rot="10800000" flipV="1">
            <a:off x="8686800" y="2630488"/>
            <a:ext cx="533400" cy="3651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353" name="Picture 22" descr="SAREVOLVER1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5" r="46490" b="35434"/>
          <a:stretch>
            <a:fillRect/>
          </a:stretch>
        </p:blipFill>
        <p:spPr bwMode="auto">
          <a:xfrm>
            <a:off x="3581400" y="3962400"/>
            <a:ext cx="2751138" cy="1905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3733800" y="3505200"/>
            <a:ext cx="17526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prstClr val="black"/>
                </a:solidFill>
              </a:rPr>
              <a:t>LOADING GATE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 rot="16200000" flipH="1">
            <a:off x="4572000" y="4114800"/>
            <a:ext cx="609600" cy="1524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5D2BE-B0D4-4AC6-A9D6-1740EFEF459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1616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352800" y="2438400"/>
            <a:ext cx="6324600" cy="3429000"/>
          </a:xfrm>
        </p:spPr>
        <p:txBody>
          <a:bodyPr rtlCol="0">
            <a:normAutofit fontScale="25000" lnSpcReduction="20000"/>
          </a:bodyPr>
          <a:lstStyle/>
          <a:p>
            <a:pPr algn="l">
              <a:defRPr/>
            </a:pPr>
            <a:r>
              <a:rPr lang="en-US" sz="11200" b="1" i="1" dirty="0">
                <a:latin typeface="Arial" pitchFamily="34" charset="0"/>
                <a:cs typeface="Arial" pitchFamily="34" charset="0"/>
              </a:rPr>
              <a:t>SINGLE-ACTION REVOLVER </a:t>
            </a:r>
          </a:p>
          <a:p>
            <a:pPr algn="l">
              <a:lnSpc>
                <a:spcPts val="2200"/>
              </a:lnSpc>
              <a:defRPr/>
            </a:pPr>
            <a:r>
              <a:rPr lang="en-US" sz="8400" b="1" dirty="0">
                <a:latin typeface="Arial" pitchFamily="34" charset="0"/>
                <a:cs typeface="Arial" pitchFamily="34" charset="0"/>
              </a:rPr>
              <a:t>THE TRIGGER PERFORMS A SINGLE ACTION: RELEASING THE HAMMER. THE HAMMER MUST BE MANUALLY COCKED FOR EACH SHOT.</a:t>
            </a:r>
          </a:p>
          <a:p>
            <a:pPr algn="l">
              <a:defRPr/>
            </a:pPr>
            <a:endParaRPr lang="en-US" sz="6400" b="1" dirty="0">
              <a:latin typeface="Arial" pitchFamily="34" charset="0"/>
              <a:cs typeface="Arial" pitchFamily="34" charset="0"/>
            </a:endParaRPr>
          </a:p>
          <a:p>
            <a:pPr algn="l">
              <a:defRPr/>
            </a:pPr>
            <a:r>
              <a:rPr lang="en-US" sz="11200" b="1" i="1" dirty="0">
                <a:latin typeface="Arial" pitchFamily="34" charset="0"/>
                <a:cs typeface="Arial" pitchFamily="34" charset="0"/>
              </a:rPr>
              <a:t>DOUBLE-ACTION REVOLVER</a:t>
            </a:r>
          </a:p>
          <a:p>
            <a:pPr algn="l">
              <a:lnSpc>
                <a:spcPts val="2200"/>
              </a:lnSpc>
              <a:defRPr/>
            </a:pPr>
            <a:r>
              <a:rPr lang="en-US" sz="8400" b="1" dirty="0">
                <a:latin typeface="Arial" pitchFamily="34" charset="0"/>
                <a:cs typeface="Arial" pitchFamily="34" charset="0"/>
              </a:rPr>
              <a:t>THE TRIGGER PERFORMS TWO TASKS: BOTH COCKING AND RELEASING THE HAMMER. MOST DOUBLE-ACTION REVOLVERS CAN ALSO BE FIRED IN THE SINGLE-ACTION MODE.</a:t>
            </a:r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defRPr/>
            </a:pPr>
            <a:endParaRPr lang="en-US" dirty="0"/>
          </a:p>
          <a:p>
            <a:pPr algn="l">
              <a:defRPr/>
            </a:pPr>
            <a:endParaRPr lang="en-US" dirty="0"/>
          </a:p>
          <a:p>
            <a:pPr algn="l">
              <a:defRPr/>
            </a:pPr>
            <a:r>
              <a:rPr lang="en-US" sz="1600" dirty="0"/>
              <a:t> </a:t>
            </a:r>
          </a:p>
          <a:p>
            <a:pPr algn="l">
              <a:defRPr/>
            </a:pPr>
            <a:endParaRPr lang="en-US" sz="16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</p:txBody>
      </p:sp>
      <p:sp>
        <p:nvSpPr>
          <p:cNvPr id="15363" name="TextBox 4"/>
          <p:cNvSpPr txBox="1">
            <a:spLocks noChangeArrowheads="1"/>
          </p:cNvSpPr>
          <p:nvPr/>
        </p:nvSpPr>
        <p:spPr bwMode="auto">
          <a:xfrm>
            <a:off x="5105400" y="6096001"/>
            <a:ext cx="4495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400" dirty="0">
              <a:solidFill>
                <a:prstClr val="black"/>
              </a:solidFill>
            </a:endParaRPr>
          </a:p>
          <a:p>
            <a:pPr eaLnBrk="1" hangingPunct="1"/>
            <a:r>
              <a:rPr lang="en-US" altLang="en-US" sz="1400" dirty="0" smtClean="0">
                <a:solidFill>
                  <a:prstClr val="black"/>
                </a:solidFill>
              </a:rPr>
              <a:t>                                   </a:t>
            </a:r>
            <a:endParaRPr lang="en-US" altLang="en-US" sz="1400" dirty="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24000" y="1600200"/>
            <a:ext cx="1219200" cy="5257800"/>
          </a:xfrm>
          <a:prstGeom prst="rect">
            <a:avLst/>
          </a:prstGeom>
          <a:gradFill flip="none" rotWithShape="1">
            <a:gsLst>
              <a:gs pos="0">
                <a:srgbClr val="EC1010">
                  <a:tint val="66000"/>
                  <a:satMod val="160000"/>
                </a:srgbClr>
              </a:gs>
              <a:gs pos="50000">
                <a:srgbClr val="EC1010">
                  <a:tint val="44500"/>
                  <a:satMod val="160000"/>
                </a:srgbClr>
              </a:gs>
              <a:gs pos="100000">
                <a:srgbClr val="EC101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2209800"/>
          </a:xfrm>
          <a:solidFill>
            <a:srgbClr val="EC1010"/>
          </a:solidFill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sz="40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SINGLE- </a:t>
            </a:r>
            <a:r>
              <a:rPr lang="en-US" sz="4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AND DOUBLE-ACTION</a:t>
            </a:r>
            <a:br>
              <a:rPr lang="en-US" sz="4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en-US" sz="4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REVOLVERS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5D2BE-B0D4-4AC6-A9D6-1740EFEF459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860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5257800" y="2590800"/>
            <a:ext cx="4419600" cy="3200400"/>
          </a:xfrm>
        </p:spPr>
        <p:txBody>
          <a:bodyPr rtlCol="0">
            <a:normAutofit fontScale="32500" lnSpcReduction="20000"/>
          </a:bodyPr>
          <a:lstStyle/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defRPr/>
            </a:pPr>
            <a:endParaRPr lang="en-US" dirty="0"/>
          </a:p>
          <a:p>
            <a:pPr algn="l">
              <a:defRPr/>
            </a:pPr>
            <a:endParaRPr lang="en-US" dirty="0"/>
          </a:p>
          <a:p>
            <a:pPr algn="l">
              <a:defRPr/>
            </a:pPr>
            <a:r>
              <a:rPr lang="en-US" sz="1600" dirty="0"/>
              <a:t> </a:t>
            </a:r>
          </a:p>
          <a:p>
            <a:pPr algn="l">
              <a:defRPr/>
            </a:pPr>
            <a:endParaRPr lang="en-US" sz="16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</p:txBody>
      </p:sp>
      <p:sp>
        <p:nvSpPr>
          <p:cNvPr id="16387" name="TextBox 4"/>
          <p:cNvSpPr txBox="1">
            <a:spLocks noChangeArrowheads="1"/>
          </p:cNvSpPr>
          <p:nvPr/>
        </p:nvSpPr>
        <p:spPr bwMode="auto">
          <a:xfrm>
            <a:off x="5105400" y="6096001"/>
            <a:ext cx="4495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400" dirty="0">
              <a:solidFill>
                <a:prstClr val="black"/>
              </a:solidFill>
            </a:endParaRPr>
          </a:p>
          <a:p>
            <a:pPr eaLnBrk="1" hangingPunct="1"/>
            <a:r>
              <a:rPr lang="en-US" altLang="en-US" sz="1400" dirty="0" smtClean="0">
                <a:solidFill>
                  <a:prstClr val="black"/>
                </a:solidFill>
              </a:rPr>
              <a:t>                                   </a:t>
            </a:r>
            <a:endParaRPr lang="en-US" altLang="en-US" sz="1400" dirty="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24000" y="1600200"/>
            <a:ext cx="1219200" cy="5257800"/>
          </a:xfrm>
          <a:prstGeom prst="rect">
            <a:avLst/>
          </a:prstGeom>
          <a:gradFill flip="none" rotWithShape="1">
            <a:gsLst>
              <a:gs pos="0">
                <a:srgbClr val="EC1010">
                  <a:tint val="66000"/>
                  <a:satMod val="160000"/>
                </a:srgbClr>
              </a:gs>
              <a:gs pos="50000">
                <a:srgbClr val="EC1010">
                  <a:tint val="44500"/>
                  <a:satMod val="160000"/>
                </a:srgbClr>
              </a:gs>
              <a:gs pos="100000">
                <a:srgbClr val="EC101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2133600"/>
          </a:xfrm>
          <a:solidFill>
            <a:srgbClr val="EC1010"/>
          </a:solidFill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sz="40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MAIN </a:t>
            </a:r>
            <a:r>
              <a:rPr lang="en-US" sz="4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PARTS OF A </a:t>
            </a:r>
            <a:br>
              <a:rPr lang="en-US" sz="4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en-US" sz="4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SEMI-AUTOMATIC PISTOL </a:t>
            </a:r>
          </a:p>
        </p:txBody>
      </p:sp>
      <p:pic>
        <p:nvPicPr>
          <p:cNvPr id="16391" name="Picture 8" descr="SEMIAUTO1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1" y="2286001"/>
            <a:ext cx="5573713" cy="374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2895600" y="4048126"/>
            <a:ext cx="1524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prstClr val="black"/>
                </a:solidFill>
              </a:rPr>
              <a:t>BARREL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5410200" y="4648201"/>
            <a:ext cx="1447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prstClr val="black"/>
                </a:solidFill>
              </a:rPr>
              <a:t>FRAME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9144000" y="2514601"/>
            <a:ext cx="1524000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prstClr val="black"/>
                </a:solidFill>
              </a:rPr>
              <a:t>ACTION</a:t>
            </a:r>
          </a:p>
          <a:p>
            <a:pPr eaLnBrk="1" hangingPunct="1"/>
            <a:r>
              <a:rPr lang="en-US" altLang="en-US" sz="1600">
                <a:solidFill>
                  <a:prstClr val="black"/>
                </a:solidFill>
              </a:rPr>
              <a:t>(</a:t>
            </a:r>
            <a:r>
              <a:rPr lang="en-US" altLang="en-US" sz="1600" b="1">
                <a:solidFill>
                  <a:prstClr val="black"/>
                </a:solidFill>
              </a:rPr>
              <a:t>SLIDE AND PARTS  WITHIN FRAME)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6705600" y="4419600"/>
            <a:ext cx="533400" cy="3048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rot="16200000" flipV="1">
            <a:off x="5219700" y="4152900"/>
            <a:ext cx="914400" cy="762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rot="5400000" flipH="1" flipV="1">
            <a:off x="2933700" y="3314700"/>
            <a:ext cx="914400" cy="5334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rot="10800000" flipV="1">
            <a:off x="8458200" y="2971800"/>
            <a:ext cx="762000" cy="2286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5D2BE-B0D4-4AC6-A9D6-1740EFEF459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9552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4"/>
          <p:cNvSpPr txBox="1">
            <a:spLocks noChangeArrowheads="1"/>
          </p:cNvSpPr>
          <p:nvPr/>
        </p:nvSpPr>
        <p:spPr bwMode="auto">
          <a:xfrm>
            <a:off x="5105400" y="6096001"/>
            <a:ext cx="4495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400" dirty="0">
              <a:solidFill>
                <a:prstClr val="black"/>
              </a:solidFill>
            </a:endParaRPr>
          </a:p>
          <a:p>
            <a:pPr eaLnBrk="1" hangingPunct="1"/>
            <a:r>
              <a:rPr lang="en-US" altLang="en-US" sz="1400" dirty="0" smtClean="0">
                <a:solidFill>
                  <a:prstClr val="black"/>
                </a:solidFill>
              </a:rPr>
              <a:t>                                   </a:t>
            </a:r>
            <a:endParaRPr lang="en-US" altLang="en-US" sz="1400" dirty="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24000" y="1600200"/>
            <a:ext cx="1219200" cy="5257800"/>
          </a:xfrm>
          <a:prstGeom prst="rect">
            <a:avLst/>
          </a:prstGeom>
          <a:gradFill flip="none" rotWithShape="1">
            <a:gsLst>
              <a:gs pos="0">
                <a:srgbClr val="EC1010">
                  <a:tint val="66000"/>
                  <a:satMod val="160000"/>
                </a:srgbClr>
              </a:gs>
              <a:gs pos="50000">
                <a:srgbClr val="EC1010">
                  <a:tint val="44500"/>
                  <a:satMod val="160000"/>
                </a:srgbClr>
              </a:gs>
              <a:gs pos="100000">
                <a:srgbClr val="EC101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981200"/>
          </a:xfrm>
          <a:solidFill>
            <a:srgbClr val="EC1010"/>
          </a:solidFill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sz="40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PARTS </a:t>
            </a:r>
            <a:r>
              <a:rPr lang="en-US" sz="4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OF A SEMI-AUTOMATIC</a:t>
            </a:r>
            <a:br>
              <a:rPr lang="en-US" sz="4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en-US" sz="4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PISTOL FRAME</a:t>
            </a:r>
          </a:p>
        </p:txBody>
      </p:sp>
      <p:pic>
        <p:nvPicPr>
          <p:cNvPr id="17414" name="Picture 8" descr="SEMIAUTO1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09"/>
          <a:stretch>
            <a:fillRect/>
          </a:stretch>
        </p:blipFill>
        <p:spPr bwMode="auto">
          <a:xfrm>
            <a:off x="3962400" y="2133601"/>
            <a:ext cx="4306888" cy="3840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8534400" y="4572000"/>
            <a:ext cx="15240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prstClr val="black"/>
                </a:solidFill>
              </a:rPr>
              <a:t>BACKSTRAP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3886200" y="3929064"/>
            <a:ext cx="1371600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en-US" sz="1600" b="1">
                <a:solidFill>
                  <a:prstClr val="black"/>
                </a:solidFill>
              </a:rPr>
              <a:t>TRIGGER GUARD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4191000" y="5181600"/>
            <a:ext cx="17526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prstClr val="black"/>
                </a:solidFill>
              </a:rPr>
              <a:t>FRONT STRAP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8382001" y="3776664"/>
            <a:ext cx="15541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prstClr val="black"/>
                </a:solidFill>
              </a:rPr>
              <a:t>GRIP PANELS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rot="10800000" flipV="1">
            <a:off x="7086600" y="3962400"/>
            <a:ext cx="1295400" cy="1524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0" idx="1"/>
          </p:cNvCxnSpPr>
          <p:nvPr/>
        </p:nvCxnSpPr>
        <p:spPr>
          <a:xfrm rot="10800000">
            <a:off x="7924800" y="4724401"/>
            <a:ext cx="609600" cy="17463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4800600" y="4038600"/>
            <a:ext cx="381000" cy="2286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5791200" y="5029201"/>
            <a:ext cx="762000" cy="322263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5D2BE-B0D4-4AC6-A9D6-1740EFEF459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0377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Box 4"/>
          <p:cNvSpPr txBox="1">
            <a:spLocks noChangeArrowheads="1"/>
          </p:cNvSpPr>
          <p:nvPr/>
        </p:nvSpPr>
        <p:spPr bwMode="auto">
          <a:xfrm>
            <a:off x="5105400" y="6096001"/>
            <a:ext cx="4495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400" dirty="0">
              <a:solidFill>
                <a:prstClr val="black"/>
              </a:solidFill>
            </a:endParaRPr>
          </a:p>
          <a:p>
            <a:pPr eaLnBrk="1" hangingPunct="1"/>
            <a:r>
              <a:rPr lang="en-US" altLang="en-US" sz="1400" dirty="0" smtClean="0">
                <a:solidFill>
                  <a:prstClr val="black"/>
                </a:solidFill>
              </a:rPr>
              <a:t>                                   </a:t>
            </a:r>
            <a:endParaRPr lang="en-US" altLang="en-US" sz="1400" dirty="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24000" y="1600200"/>
            <a:ext cx="1219200" cy="5257800"/>
          </a:xfrm>
          <a:prstGeom prst="rect">
            <a:avLst/>
          </a:prstGeom>
          <a:gradFill flip="none" rotWithShape="1">
            <a:gsLst>
              <a:gs pos="0">
                <a:srgbClr val="EC1010">
                  <a:tint val="66000"/>
                  <a:satMod val="160000"/>
                </a:srgbClr>
              </a:gs>
              <a:gs pos="50000">
                <a:srgbClr val="EC1010">
                  <a:tint val="44500"/>
                  <a:satMod val="160000"/>
                </a:srgbClr>
              </a:gs>
              <a:gs pos="100000">
                <a:srgbClr val="EC101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981200"/>
          </a:xfrm>
          <a:solidFill>
            <a:srgbClr val="EC1010"/>
          </a:solidFill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sz="40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PARTS </a:t>
            </a:r>
            <a:r>
              <a:rPr lang="en-US" sz="4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OF A SEMI-AUTOMATIC</a:t>
            </a:r>
            <a:br>
              <a:rPr lang="en-US" sz="4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en-US" sz="4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PISTOL BARREL</a:t>
            </a:r>
          </a:p>
        </p:txBody>
      </p:sp>
      <p:pic>
        <p:nvPicPr>
          <p:cNvPr id="18438" name="Picture 15" descr="sabarrel.t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1" y="2636838"/>
            <a:ext cx="6526213" cy="292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2971800" y="4714876"/>
            <a:ext cx="13716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en-US" b="1">
                <a:solidFill>
                  <a:prstClr val="black"/>
                </a:solidFill>
              </a:rPr>
              <a:t>MUZZLE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 rot="5400000" flipH="1" flipV="1">
            <a:off x="3429000" y="4191000"/>
            <a:ext cx="533400" cy="3810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rot="16200000" flipH="1">
            <a:off x="4838700" y="3543300"/>
            <a:ext cx="914400" cy="2286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3733800" y="2736850"/>
            <a:ext cx="228600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prstClr val="black"/>
                </a:solidFill>
              </a:rPr>
              <a:t>RIFLING</a:t>
            </a:r>
            <a:r>
              <a:rPr lang="en-US" altLang="en-US" sz="1600" b="1">
                <a:solidFill>
                  <a:prstClr val="black"/>
                </a:solidFill>
              </a:rPr>
              <a:t> (LANDS &amp; GROOVES)</a:t>
            </a:r>
          </a:p>
        </p:txBody>
      </p:sp>
      <p:cxnSp>
        <p:nvCxnSpPr>
          <p:cNvPr id="34" name="Straight Arrow Connector 33"/>
          <p:cNvCxnSpPr/>
          <p:nvPr/>
        </p:nvCxnSpPr>
        <p:spPr>
          <a:xfrm rot="5400000">
            <a:off x="7505700" y="3162300"/>
            <a:ext cx="685800" cy="3048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rot="5400000" flipH="1" flipV="1">
            <a:off x="7924800" y="4191000"/>
            <a:ext cx="838200" cy="5334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6781800" y="4876800"/>
            <a:ext cx="152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prstClr val="black"/>
                </a:solidFill>
              </a:rPr>
              <a:t>CHAMBER</a:t>
            </a:r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6705600" y="2286001"/>
            <a:ext cx="23622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prstClr val="black"/>
                </a:solidFill>
              </a:rPr>
              <a:t>LOCKING LUGS </a:t>
            </a:r>
            <a:r>
              <a:rPr lang="en-US" altLang="en-US" sz="1600" b="1">
                <a:solidFill>
                  <a:prstClr val="black"/>
                </a:solidFill>
              </a:rPr>
              <a:t>(ENGAGE RECESSES IN SLIDE)</a:t>
            </a:r>
          </a:p>
        </p:txBody>
      </p:sp>
      <p:cxnSp>
        <p:nvCxnSpPr>
          <p:cNvPr id="40" name="Straight Arrow Connector 39"/>
          <p:cNvCxnSpPr/>
          <p:nvPr/>
        </p:nvCxnSpPr>
        <p:spPr>
          <a:xfrm rot="5400000">
            <a:off x="7353300" y="3009900"/>
            <a:ext cx="685800" cy="6096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5D2BE-B0D4-4AC6-A9D6-1740EFEF459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0902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6705600" y="2514600"/>
            <a:ext cx="2971800" cy="3276600"/>
          </a:xfrm>
        </p:spPr>
        <p:txBody>
          <a:bodyPr rtlCol="0">
            <a:normAutofit fontScale="32500" lnSpcReduction="20000"/>
          </a:bodyPr>
          <a:lstStyle/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b="1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defRPr/>
            </a:pPr>
            <a:endParaRPr lang="en-US" dirty="0"/>
          </a:p>
          <a:p>
            <a:pPr algn="l">
              <a:defRPr/>
            </a:pPr>
            <a:endParaRPr lang="en-US" dirty="0"/>
          </a:p>
          <a:p>
            <a:pPr algn="l">
              <a:defRPr/>
            </a:pPr>
            <a:r>
              <a:rPr lang="en-US" sz="1600" dirty="0"/>
              <a:t> </a:t>
            </a:r>
          </a:p>
          <a:p>
            <a:pPr algn="l">
              <a:defRPr/>
            </a:pPr>
            <a:endParaRPr lang="en-US" sz="16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</p:txBody>
      </p:sp>
      <p:sp>
        <p:nvSpPr>
          <p:cNvPr id="19460" name="TextBox 4"/>
          <p:cNvSpPr txBox="1">
            <a:spLocks noChangeArrowheads="1"/>
          </p:cNvSpPr>
          <p:nvPr/>
        </p:nvSpPr>
        <p:spPr bwMode="auto">
          <a:xfrm>
            <a:off x="5105400" y="6096001"/>
            <a:ext cx="4495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400" dirty="0">
              <a:solidFill>
                <a:prstClr val="black"/>
              </a:solidFill>
            </a:endParaRPr>
          </a:p>
          <a:p>
            <a:pPr eaLnBrk="1" hangingPunct="1"/>
            <a:r>
              <a:rPr lang="en-US" altLang="en-US" sz="1400" dirty="0" smtClean="0">
                <a:solidFill>
                  <a:prstClr val="black"/>
                </a:solidFill>
              </a:rPr>
              <a:t>                                   </a:t>
            </a:r>
            <a:endParaRPr lang="en-US" altLang="en-US" sz="1400" dirty="0">
              <a:solidFill>
                <a:prstClr val="black"/>
              </a:solidFill>
            </a:endParaRPr>
          </a:p>
        </p:txBody>
      </p:sp>
      <p:sp>
        <p:nvSpPr>
          <p:cNvPr id="19461" name="TextBox 21"/>
          <p:cNvSpPr txBox="1">
            <a:spLocks noChangeArrowheads="1"/>
          </p:cNvSpPr>
          <p:nvPr/>
        </p:nvSpPr>
        <p:spPr bwMode="auto">
          <a:xfrm>
            <a:off x="6324600" y="1949450"/>
            <a:ext cx="3962400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>
                <a:solidFill>
                  <a:prstClr val="black"/>
                </a:solidFill>
              </a:rPr>
              <a:t>RIFLING</a:t>
            </a:r>
          </a:p>
          <a:p>
            <a:pPr eaLnBrk="1" hangingPunct="1"/>
            <a:r>
              <a:rPr lang="en-US" altLang="en-US" b="1">
                <a:solidFill>
                  <a:prstClr val="black"/>
                </a:solidFill>
              </a:rPr>
              <a:t>SPIRALING </a:t>
            </a:r>
            <a:r>
              <a:rPr lang="en-US" altLang="en-US" b="1" i="1">
                <a:solidFill>
                  <a:prstClr val="black"/>
                </a:solidFill>
              </a:rPr>
              <a:t>LANDS</a:t>
            </a:r>
            <a:r>
              <a:rPr lang="en-US" altLang="en-US" b="1">
                <a:solidFill>
                  <a:prstClr val="black"/>
                </a:solidFill>
              </a:rPr>
              <a:t> AND </a:t>
            </a:r>
            <a:r>
              <a:rPr lang="en-US" altLang="en-US" b="1" i="1">
                <a:solidFill>
                  <a:prstClr val="black"/>
                </a:solidFill>
              </a:rPr>
              <a:t>GROOVES</a:t>
            </a:r>
            <a:r>
              <a:rPr lang="en-US" altLang="en-US" b="1">
                <a:solidFill>
                  <a:prstClr val="black"/>
                </a:solidFill>
              </a:rPr>
              <a:t> THAT ENGRAVE THE BULLET AND GIVE IT SPIN AS IT TRAVELS THROUGH THE BORE</a:t>
            </a:r>
          </a:p>
        </p:txBody>
      </p:sp>
      <p:pic>
        <p:nvPicPr>
          <p:cNvPr id="19462" name="Picture 20" descr="riflingdrwg.t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7138" y="4114800"/>
            <a:ext cx="6443662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7772400" y="4038600"/>
            <a:ext cx="9144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prstClr val="black"/>
                </a:solidFill>
              </a:rPr>
              <a:t>LAND</a:t>
            </a: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6629400" y="4038600"/>
            <a:ext cx="12192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prstClr val="black"/>
                </a:solidFill>
              </a:rPr>
              <a:t>GROOVE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 rot="5400000">
            <a:off x="7581900" y="4533900"/>
            <a:ext cx="609600" cy="22860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rot="16200000" flipH="1">
            <a:off x="6934200" y="4648200"/>
            <a:ext cx="6096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467" name="Picture 8" descr="rimfire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4464" y="1858964"/>
            <a:ext cx="3640137" cy="2560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1524000" y="1600200"/>
            <a:ext cx="1524000" cy="5257800"/>
          </a:xfrm>
          <a:prstGeom prst="rect">
            <a:avLst/>
          </a:prstGeom>
          <a:gradFill flip="none" rotWithShape="1">
            <a:gsLst>
              <a:gs pos="0">
                <a:srgbClr val="EC1010">
                  <a:tint val="66000"/>
                  <a:satMod val="160000"/>
                </a:srgbClr>
              </a:gs>
              <a:gs pos="50000">
                <a:srgbClr val="EC1010">
                  <a:tint val="44500"/>
                  <a:satMod val="160000"/>
                </a:srgbClr>
              </a:gs>
              <a:gs pos="100000">
                <a:srgbClr val="EC101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5181600" y="3790950"/>
            <a:ext cx="10668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 b="1">
                <a:solidFill>
                  <a:prstClr val="black"/>
                </a:solidFill>
              </a:rPr>
              <a:t>GROOVE</a:t>
            </a:r>
          </a:p>
        </p:txBody>
      </p:sp>
      <p:sp>
        <p:nvSpPr>
          <p:cNvPr id="19470" name="Title 3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676400"/>
          </a:xfrm>
          <a:solidFill>
            <a:srgbClr val="EC1010"/>
          </a:solidFill>
        </p:spPr>
        <p:txBody>
          <a:bodyPr/>
          <a:lstStyle/>
          <a:p>
            <a:pPr eaLnBrk="1" hangingPunct="1"/>
            <a:r>
              <a:rPr lang="en-US" altLang="en-US" sz="4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LANDS </a:t>
            </a:r>
            <a:r>
              <a:rPr lang="en-US" alt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 GROOVES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rot="10800000">
            <a:off x="5029200" y="3429000"/>
            <a:ext cx="533400" cy="3810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3962400" y="2647950"/>
            <a:ext cx="7620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 b="1">
                <a:solidFill>
                  <a:prstClr val="black"/>
                </a:solidFill>
              </a:rPr>
              <a:t>LAND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rot="5400000">
            <a:off x="3810000" y="3124200"/>
            <a:ext cx="609600" cy="3048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5D2BE-B0D4-4AC6-A9D6-1740EFEF459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5611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11" grpId="0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Box 4"/>
          <p:cNvSpPr txBox="1">
            <a:spLocks noChangeArrowheads="1"/>
          </p:cNvSpPr>
          <p:nvPr/>
        </p:nvSpPr>
        <p:spPr bwMode="auto">
          <a:xfrm>
            <a:off x="5105400" y="6096001"/>
            <a:ext cx="4495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400" dirty="0">
              <a:solidFill>
                <a:prstClr val="black"/>
              </a:solidFill>
            </a:endParaRPr>
          </a:p>
          <a:p>
            <a:pPr eaLnBrk="1" hangingPunct="1"/>
            <a:r>
              <a:rPr lang="en-US" altLang="en-US" sz="1400" dirty="0" smtClean="0">
                <a:solidFill>
                  <a:prstClr val="black"/>
                </a:solidFill>
              </a:rPr>
              <a:t>                                   </a:t>
            </a:r>
            <a:endParaRPr lang="en-US" altLang="en-US" sz="1400" dirty="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24000" y="1600200"/>
            <a:ext cx="1524000" cy="5257800"/>
          </a:xfrm>
          <a:prstGeom prst="rect">
            <a:avLst/>
          </a:prstGeom>
          <a:gradFill flip="none" rotWithShape="1">
            <a:gsLst>
              <a:gs pos="0">
                <a:srgbClr val="EC1010">
                  <a:tint val="66000"/>
                  <a:satMod val="160000"/>
                </a:srgbClr>
              </a:gs>
              <a:gs pos="50000">
                <a:srgbClr val="EC1010">
                  <a:tint val="44500"/>
                  <a:satMod val="160000"/>
                </a:srgbClr>
              </a:gs>
              <a:gs pos="100000">
                <a:srgbClr val="EC101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905000"/>
          </a:xfrm>
          <a:solidFill>
            <a:srgbClr val="EC1010"/>
          </a:solidFill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sz="36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SEMI-AUTOMATIC </a:t>
            </a:r>
            <a:r>
              <a:rPr lang="en-US" sz="36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PISTOL ACTION PARTS</a:t>
            </a:r>
          </a:p>
        </p:txBody>
      </p:sp>
      <p:pic>
        <p:nvPicPr>
          <p:cNvPr id="20486" name="Picture 9" descr="pistol2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2" t="3259" r="5087" b="4147"/>
          <a:stretch>
            <a:fillRect/>
          </a:stretch>
        </p:blipFill>
        <p:spPr bwMode="auto">
          <a:xfrm>
            <a:off x="3967164" y="2270126"/>
            <a:ext cx="5024437" cy="374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4267200" y="3821114"/>
            <a:ext cx="11430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prstClr val="black"/>
                </a:solidFill>
              </a:rPr>
              <a:t>TRIGGER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8382000" y="2057400"/>
            <a:ext cx="11430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prstClr val="black"/>
                </a:solidFill>
              </a:rPr>
              <a:t>HAMMER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3886200" y="2057400"/>
            <a:ext cx="10668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prstClr val="black"/>
                </a:solidFill>
              </a:rPr>
              <a:t>SLIDE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8915400" y="2735263"/>
            <a:ext cx="1447800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en-US" sz="1600" b="1">
                <a:solidFill>
                  <a:prstClr val="black"/>
                </a:solidFill>
              </a:rPr>
              <a:t>HAMMER SPUR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5029200" y="4495801"/>
            <a:ext cx="18288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en-US" sz="1600" b="1">
                <a:solidFill>
                  <a:prstClr val="black"/>
                </a:solidFill>
              </a:rPr>
              <a:t>MAGAZINE RELEASE</a:t>
            </a: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5562600" y="5257800"/>
            <a:ext cx="16002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prstClr val="black"/>
                </a:solidFill>
              </a:rPr>
              <a:t>MAGAZINE</a:t>
            </a: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8763000" y="3657601"/>
            <a:ext cx="14478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en-US" sz="1600" b="1">
                <a:solidFill>
                  <a:prstClr val="black"/>
                </a:solidFill>
              </a:rPr>
              <a:t>SAFETY</a:t>
            </a: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6629400" y="2057400"/>
            <a:ext cx="16002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prstClr val="black"/>
                </a:solidFill>
              </a:rPr>
              <a:t>SLIDE STOP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 rot="16200000" flipH="1">
            <a:off x="4245769" y="2493169"/>
            <a:ext cx="576262" cy="3810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rot="5400000">
            <a:off x="6934200" y="2743200"/>
            <a:ext cx="838200" cy="762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5410200" y="3810000"/>
            <a:ext cx="1066800" cy="19685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V="1">
            <a:off x="6248400" y="4038600"/>
            <a:ext cx="685800" cy="5334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6781800" y="5486400"/>
            <a:ext cx="533400" cy="762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rot="10800000" flipV="1">
            <a:off x="8153400" y="2362200"/>
            <a:ext cx="533400" cy="4572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rot="10800000">
            <a:off x="8382000" y="2895600"/>
            <a:ext cx="533400" cy="1588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rot="10800000">
            <a:off x="7772400" y="3276600"/>
            <a:ext cx="990600" cy="5334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>
            <a:spLocks noChangeArrowheads="1"/>
          </p:cNvSpPr>
          <p:nvPr/>
        </p:nvSpPr>
        <p:spPr bwMode="auto">
          <a:xfrm>
            <a:off x="4953000" y="2057401"/>
            <a:ext cx="15240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en-US" sz="1600" b="1">
                <a:solidFill>
                  <a:prstClr val="black"/>
                </a:solidFill>
              </a:rPr>
              <a:t>TAKEDOWN LEVER</a:t>
            </a:r>
          </a:p>
        </p:txBody>
      </p:sp>
      <p:cxnSp>
        <p:nvCxnSpPr>
          <p:cNvPr id="50" name="Straight Arrow Connector 49"/>
          <p:cNvCxnSpPr/>
          <p:nvPr/>
        </p:nvCxnSpPr>
        <p:spPr>
          <a:xfrm rot="16200000" flipH="1">
            <a:off x="5638800" y="2667000"/>
            <a:ext cx="838200" cy="2286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5D2BE-B0D4-4AC6-A9D6-1740EFEF459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0344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505200" y="2819400"/>
            <a:ext cx="6172200" cy="3124200"/>
          </a:xfrm>
        </p:spPr>
        <p:txBody>
          <a:bodyPr rtlCol="0">
            <a:normAutofit fontScale="25000" lnSpcReduction="20000"/>
          </a:bodyPr>
          <a:lstStyle/>
          <a:p>
            <a:pPr marL="63500" indent="-63500" algn="l">
              <a:buFont typeface="Arial" panose="020B0604020202020204" pitchFamily="34" charset="0"/>
              <a:buChar char="•"/>
              <a:defRPr/>
            </a:pPr>
            <a:r>
              <a:rPr lang="en-US" sz="8400" b="1" dirty="0">
                <a:latin typeface="Arial" pitchFamily="34" charset="0"/>
                <a:cs typeface="Arial" pitchFamily="34" charset="0"/>
              </a:rPr>
              <a:t> EXTRACTING THE FIRED CASE FROM </a:t>
            </a:r>
          </a:p>
          <a:p>
            <a:pPr marL="63500" indent="-63500" algn="l">
              <a:defRPr/>
            </a:pPr>
            <a:r>
              <a:rPr lang="en-US" sz="8400" b="1" dirty="0">
                <a:latin typeface="Arial" pitchFamily="34" charset="0"/>
                <a:cs typeface="Arial" pitchFamily="34" charset="0"/>
              </a:rPr>
              <a:t>  THE CHAMBER AND EJECTING IT FROM THE </a:t>
            </a:r>
          </a:p>
          <a:p>
            <a:pPr marL="63500" indent="-63500" algn="l">
              <a:defRPr/>
            </a:pPr>
            <a:r>
              <a:rPr lang="en-US" sz="8400" b="1" dirty="0">
                <a:latin typeface="Arial" pitchFamily="34" charset="0"/>
                <a:cs typeface="Arial" pitchFamily="34" charset="0"/>
              </a:rPr>
              <a:t>  PISTOL</a:t>
            </a:r>
          </a:p>
          <a:p>
            <a:pPr algn="l">
              <a:defRPr/>
            </a:pPr>
            <a:endParaRPr lang="en-US" sz="8400" b="1" dirty="0">
              <a:latin typeface="Arial" pitchFamily="34" charset="0"/>
              <a:cs typeface="Arial" pitchFamily="34" charset="0"/>
            </a:endParaRPr>
          </a:p>
          <a:p>
            <a:pPr indent="111125" algn="l">
              <a:buFont typeface="Arial" panose="020B0604020202020204" pitchFamily="34" charset="0"/>
              <a:buChar char="•"/>
              <a:defRPr/>
            </a:pPr>
            <a:r>
              <a:rPr lang="en-US" sz="8400" b="1" dirty="0">
                <a:latin typeface="Arial" pitchFamily="34" charset="0"/>
                <a:cs typeface="Arial" pitchFamily="34" charset="0"/>
              </a:rPr>
              <a:t> COCKING THE HAMMER OR FIRING PIN</a:t>
            </a:r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8400" b="1" dirty="0">
              <a:latin typeface="Arial" pitchFamily="34" charset="0"/>
              <a:cs typeface="Arial" pitchFamily="34" charset="0"/>
            </a:endParaRPr>
          </a:p>
          <a:p>
            <a:pPr marL="111125" indent="-111125" algn="l"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en-US" sz="8400" b="1" dirty="0">
                <a:latin typeface="Arial" pitchFamily="34" charset="0"/>
                <a:cs typeface="Arial" pitchFamily="34" charset="0"/>
              </a:rPr>
              <a:t> FEEDING THE TOP CARTRIDGE IN THE </a:t>
            </a:r>
          </a:p>
          <a:p>
            <a:pPr marL="173038" indent="-61913" algn="l">
              <a:tabLst>
                <a:tab pos="236538" algn="l"/>
              </a:tabLst>
              <a:defRPr/>
            </a:pPr>
            <a:r>
              <a:rPr lang="en-US" sz="8400" b="1" dirty="0">
                <a:latin typeface="Arial" pitchFamily="34" charset="0"/>
                <a:cs typeface="Arial" pitchFamily="34" charset="0"/>
              </a:rPr>
              <a:t> MAGAZINE INTO THE CHAMBER</a:t>
            </a:r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defRPr/>
            </a:pPr>
            <a:endParaRPr lang="en-US" dirty="0"/>
          </a:p>
          <a:p>
            <a:pPr algn="l">
              <a:defRPr/>
            </a:pPr>
            <a:endParaRPr lang="en-US" dirty="0"/>
          </a:p>
          <a:p>
            <a:pPr algn="l">
              <a:defRPr/>
            </a:pPr>
            <a:r>
              <a:rPr lang="en-US" sz="1600" dirty="0"/>
              <a:t> </a:t>
            </a:r>
          </a:p>
          <a:p>
            <a:pPr algn="l">
              <a:defRPr/>
            </a:pPr>
            <a:endParaRPr lang="en-US" sz="16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</p:txBody>
      </p:sp>
      <p:sp>
        <p:nvSpPr>
          <p:cNvPr id="21507" name="TextBox 4"/>
          <p:cNvSpPr txBox="1">
            <a:spLocks noChangeArrowheads="1"/>
          </p:cNvSpPr>
          <p:nvPr/>
        </p:nvSpPr>
        <p:spPr bwMode="auto">
          <a:xfrm>
            <a:off x="5105400" y="6096001"/>
            <a:ext cx="4495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400" dirty="0">
              <a:solidFill>
                <a:prstClr val="black"/>
              </a:solidFill>
            </a:endParaRPr>
          </a:p>
          <a:p>
            <a:pPr eaLnBrk="1" hangingPunct="1"/>
            <a:r>
              <a:rPr lang="en-US" altLang="en-US" sz="1400" dirty="0" smtClean="0">
                <a:solidFill>
                  <a:prstClr val="black"/>
                </a:solidFill>
              </a:rPr>
              <a:t>                                   </a:t>
            </a:r>
            <a:endParaRPr lang="en-US" altLang="en-US" sz="1400" dirty="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24000" y="1600200"/>
            <a:ext cx="1371600" cy="5257800"/>
          </a:xfrm>
          <a:prstGeom prst="rect">
            <a:avLst/>
          </a:prstGeom>
          <a:gradFill flip="none" rotWithShape="1">
            <a:gsLst>
              <a:gs pos="0">
                <a:srgbClr val="EC1010">
                  <a:tint val="66000"/>
                  <a:satMod val="160000"/>
                </a:srgbClr>
              </a:gs>
              <a:gs pos="50000">
                <a:srgbClr val="EC1010">
                  <a:tint val="44500"/>
                  <a:satMod val="160000"/>
                </a:srgbClr>
              </a:gs>
              <a:gs pos="100000">
                <a:srgbClr val="EC101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1510" name="Title 3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2286000"/>
          </a:xfrm>
          <a:solidFill>
            <a:srgbClr val="EC1010"/>
          </a:solidFill>
        </p:spPr>
        <p:txBody>
          <a:bodyPr/>
          <a:lstStyle/>
          <a:p>
            <a:pPr eaLnBrk="1" hangingPunct="1"/>
            <a:r>
              <a:rPr lang="en-US" altLang="en-US" sz="3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FUNCTIONS </a:t>
            </a:r>
            <a:r>
              <a:rPr lang="en-US" alt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A </a:t>
            </a:r>
            <a:br>
              <a:rPr lang="en-US" alt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SEMI-AUTOMATIC PISTOL SLIDE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5D2BE-B0D4-4AC6-A9D6-1740EFEF459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0151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352800" y="2286000"/>
            <a:ext cx="6324600" cy="3505200"/>
          </a:xfrm>
        </p:spPr>
        <p:txBody>
          <a:bodyPr rtlCol="0">
            <a:normAutofit fontScale="25000" lnSpcReduction="20000"/>
          </a:bodyPr>
          <a:lstStyle/>
          <a:p>
            <a:pPr algn="l">
              <a:defRPr/>
            </a:pPr>
            <a:r>
              <a:rPr lang="en-US" sz="8000" b="1" i="1" dirty="0">
                <a:latin typeface="Arial" pitchFamily="34" charset="0"/>
                <a:cs typeface="Arial" pitchFamily="34" charset="0"/>
              </a:rPr>
              <a:t>SINGLE-ACTION </a:t>
            </a:r>
            <a:endParaRPr lang="en-US" sz="1600" b="1" i="1" dirty="0">
              <a:latin typeface="Arial" pitchFamily="34" charset="0"/>
              <a:cs typeface="Arial" pitchFamily="34" charset="0"/>
            </a:endParaRPr>
          </a:p>
          <a:p>
            <a:pPr algn="l">
              <a:lnSpc>
                <a:spcPts val="1920"/>
              </a:lnSpc>
              <a:defRPr/>
            </a:pPr>
            <a:r>
              <a:rPr lang="en-US" sz="6400" b="1" dirty="0">
                <a:latin typeface="Arial" pitchFamily="34" charset="0"/>
                <a:cs typeface="Arial" pitchFamily="34" charset="0"/>
              </a:rPr>
              <a:t>EACH PULL OF THE TRIGGER PERFORMS A SINGLE ACTION: RELEASING THE HAMMER. THE HAMMER MUST BE MANUALLY COCKED FOR THE FIRST SHOT.</a:t>
            </a:r>
          </a:p>
          <a:p>
            <a:pPr algn="l">
              <a:defRPr/>
            </a:pPr>
            <a:endParaRPr lang="en-US" sz="6400" b="1" dirty="0">
              <a:latin typeface="Arial" pitchFamily="34" charset="0"/>
              <a:cs typeface="Arial" pitchFamily="34" charset="0"/>
            </a:endParaRPr>
          </a:p>
          <a:p>
            <a:pPr algn="l">
              <a:defRPr/>
            </a:pPr>
            <a:r>
              <a:rPr lang="en-US" sz="8000" b="1" i="1" dirty="0">
                <a:latin typeface="Arial" pitchFamily="34" charset="0"/>
                <a:cs typeface="Arial" pitchFamily="34" charset="0"/>
              </a:rPr>
              <a:t>TRADITIONAL DOUBLE-ACTION </a:t>
            </a:r>
            <a:endParaRPr lang="en-US" sz="800" b="1" i="1" dirty="0">
              <a:latin typeface="Arial" pitchFamily="34" charset="0"/>
              <a:cs typeface="Arial" pitchFamily="34" charset="0"/>
            </a:endParaRPr>
          </a:p>
          <a:p>
            <a:pPr algn="l">
              <a:lnSpc>
                <a:spcPts val="1920"/>
              </a:lnSpc>
              <a:defRPr/>
            </a:pPr>
            <a:r>
              <a:rPr lang="en-US" sz="6400" b="1" dirty="0">
                <a:latin typeface="Arial" pitchFamily="34" charset="0"/>
                <a:cs typeface="Arial" pitchFamily="34" charset="0"/>
              </a:rPr>
              <a:t>THE INITIAL LONG, HEAVY TRIGGER PULL BOTH COCKS AND RELEASES THE HAMMER. EACH SUBSEQUENT SHOT IS FIRED IN THE SINGLE-ACTION MODE.</a:t>
            </a:r>
          </a:p>
          <a:p>
            <a:pPr algn="l">
              <a:defRPr/>
            </a:pPr>
            <a:endParaRPr lang="en-US" sz="6400" b="1" dirty="0">
              <a:latin typeface="Arial" pitchFamily="34" charset="0"/>
              <a:cs typeface="Arial" pitchFamily="34" charset="0"/>
            </a:endParaRPr>
          </a:p>
          <a:p>
            <a:pPr algn="l">
              <a:defRPr/>
            </a:pPr>
            <a:r>
              <a:rPr lang="en-US" sz="8000" b="1" i="1" dirty="0">
                <a:latin typeface="Arial" pitchFamily="34" charset="0"/>
                <a:cs typeface="Arial" pitchFamily="34" charset="0"/>
              </a:rPr>
              <a:t>DOUBLE-ACTION-ONLY </a:t>
            </a:r>
            <a:endParaRPr lang="en-US" sz="800" b="1" i="1" dirty="0">
              <a:latin typeface="Arial" pitchFamily="34" charset="0"/>
              <a:cs typeface="Arial" pitchFamily="34" charset="0"/>
            </a:endParaRPr>
          </a:p>
          <a:p>
            <a:pPr algn="l">
              <a:lnSpc>
                <a:spcPts val="1920"/>
              </a:lnSpc>
              <a:defRPr/>
            </a:pPr>
            <a:r>
              <a:rPr lang="en-US" sz="6400" b="1" dirty="0">
                <a:latin typeface="Arial" pitchFamily="34" charset="0"/>
                <a:cs typeface="Arial" pitchFamily="34" charset="0"/>
              </a:rPr>
              <a:t>EACH PULL OF THE TRIGGER BOTH COCKS AND RELEASES THE HAMMER, AS WITH A  DOUBLE-ACTION REVOLVER.</a:t>
            </a:r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sz="5100" dirty="0"/>
          </a:p>
          <a:p>
            <a:pPr algn="l"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defRPr/>
            </a:pPr>
            <a:endParaRPr lang="en-US" dirty="0"/>
          </a:p>
          <a:p>
            <a:pPr algn="l">
              <a:defRPr/>
            </a:pPr>
            <a:endParaRPr lang="en-US" dirty="0"/>
          </a:p>
          <a:p>
            <a:pPr algn="l">
              <a:defRPr/>
            </a:pPr>
            <a:r>
              <a:rPr lang="en-US" sz="1600" dirty="0"/>
              <a:t> </a:t>
            </a:r>
          </a:p>
          <a:p>
            <a:pPr algn="l">
              <a:defRPr/>
            </a:pPr>
            <a:endParaRPr lang="en-US" sz="1600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</p:txBody>
      </p:sp>
      <p:sp>
        <p:nvSpPr>
          <p:cNvPr id="22531" name="TextBox 4"/>
          <p:cNvSpPr txBox="1">
            <a:spLocks noChangeArrowheads="1"/>
          </p:cNvSpPr>
          <p:nvPr/>
        </p:nvSpPr>
        <p:spPr bwMode="auto">
          <a:xfrm>
            <a:off x="5105400" y="6096001"/>
            <a:ext cx="4495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400" dirty="0">
              <a:solidFill>
                <a:prstClr val="black"/>
              </a:solidFill>
            </a:endParaRPr>
          </a:p>
          <a:p>
            <a:pPr eaLnBrk="1" hangingPunct="1"/>
            <a:r>
              <a:rPr lang="en-US" altLang="en-US" sz="1400" dirty="0" smtClean="0">
                <a:solidFill>
                  <a:prstClr val="black"/>
                </a:solidFill>
              </a:rPr>
              <a:t>                                   </a:t>
            </a:r>
            <a:endParaRPr lang="en-US" altLang="en-US" sz="1400" dirty="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24000" y="1600200"/>
            <a:ext cx="1219200" cy="5257800"/>
          </a:xfrm>
          <a:prstGeom prst="rect">
            <a:avLst/>
          </a:prstGeom>
          <a:gradFill flip="none" rotWithShape="1">
            <a:gsLst>
              <a:gs pos="0">
                <a:srgbClr val="EC1010">
                  <a:tint val="66000"/>
                  <a:satMod val="160000"/>
                </a:srgbClr>
              </a:gs>
              <a:gs pos="50000">
                <a:srgbClr val="EC1010">
                  <a:tint val="44500"/>
                  <a:satMod val="160000"/>
                </a:srgbClr>
              </a:gs>
              <a:gs pos="100000">
                <a:srgbClr val="EC101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2057400"/>
          </a:xfrm>
          <a:solidFill>
            <a:srgbClr val="EC1010"/>
          </a:solidFill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sz="40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TYPES </a:t>
            </a:r>
            <a:r>
              <a:rPr lang="en-US" sz="4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OF SEMI-AUTOMATIC </a:t>
            </a:r>
            <a:br>
              <a:rPr lang="en-US" sz="4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en-US" sz="4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PISTOL ACTIONS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5D2BE-B0D4-4AC6-A9D6-1740EFEF459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0269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505200" y="1650999"/>
            <a:ext cx="7245178" cy="5095789"/>
          </a:xfrm>
        </p:spPr>
        <p:txBody>
          <a:bodyPr rtlCol="0">
            <a:noAutofit/>
          </a:bodyPr>
          <a:lstStyle/>
          <a:p>
            <a:pPr marL="63500" indent="-63500" algn="l">
              <a:buFont typeface="Arial" panose="020B0604020202020204" pitchFamily="34" charset="0"/>
              <a:buChar char="•"/>
              <a:defRPr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CAUSES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OF FIREARM ACCIDENTS</a:t>
            </a:r>
          </a:p>
          <a:p>
            <a:pPr marL="63500" indent="-63500" algn="l">
              <a:buFont typeface="Arial" panose="020B0604020202020204" pitchFamily="34" charset="0"/>
              <a:buChar char="•"/>
              <a:defRPr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SLED 4 CARDINAL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RULES FOR SAFE GUN HANDLING</a:t>
            </a:r>
          </a:p>
          <a:p>
            <a:pPr marL="63500" indent="-63500" algn="l">
              <a:buFont typeface="Arial" panose="020B0604020202020204" pitchFamily="34" charset="0"/>
              <a:buChar char="•"/>
              <a:defRPr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NRA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RULES FOR SAFE GUN HANDLING</a:t>
            </a:r>
          </a:p>
          <a:p>
            <a:pPr marL="63500" indent="-63500" algn="l">
              <a:buFont typeface="Arial" panose="020B0604020202020204" pitchFamily="34" charset="0"/>
              <a:buChar char="•"/>
              <a:defRPr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PISTOL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ACTION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TYPES</a:t>
            </a:r>
            <a:endParaRPr lang="en-US" b="1" dirty="0">
              <a:latin typeface="Arial" pitchFamily="34" charset="0"/>
              <a:cs typeface="Arial" pitchFamily="34" charset="0"/>
            </a:endParaRPr>
          </a:p>
          <a:p>
            <a:pPr marL="111125" indent="-111125" algn="l"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en-US" b="1" dirty="0">
                <a:latin typeface="Arial" pitchFamily="34" charset="0"/>
                <a:cs typeface="Arial" pitchFamily="34" charset="0"/>
              </a:rPr>
              <a:t> MAIN PARTS OF A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PISTOL</a:t>
            </a:r>
            <a:endParaRPr lang="en-US" b="1" dirty="0">
              <a:latin typeface="Arial" pitchFamily="34" charset="0"/>
              <a:cs typeface="Arial" pitchFamily="34" charset="0"/>
            </a:endParaRPr>
          </a:p>
          <a:p>
            <a:pPr marL="111125" indent="-111125" algn="l"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en-US" b="1" dirty="0">
                <a:latin typeface="Arial" pitchFamily="34" charset="0"/>
                <a:cs typeface="Arial" pitchFamily="34" charset="0"/>
              </a:rPr>
              <a:t> PARTS OF A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REVOLVER</a:t>
            </a:r>
            <a:endParaRPr lang="en-US" b="1" dirty="0">
              <a:latin typeface="Arial" pitchFamily="34" charset="0"/>
              <a:cs typeface="Arial" pitchFamily="34" charset="0"/>
            </a:endParaRPr>
          </a:p>
          <a:p>
            <a:pPr marL="111125" indent="-111125" algn="l"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en-US" b="1" dirty="0">
                <a:latin typeface="Arial" pitchFamily="34" charset="0"/>
                <a:cs typeface="Arial" pitchFamily="34" charset="0"/>
              </a:rPr>
              <a:t> PARTS OF A SEMI-AUTOMATIC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PISTOL</a:t>
            </a:r>
            <a:endParaRPr lang="en-US" b="1" dirty="0">
              <a:latin typeface="Arial" pitchFamily="34" charset="0"/>
              <a:cs typeface="Arial" pitchFamily="34" charset="0"/>
            </a:endParaRPr>
          </a:p>
          <a:p>
            <a:pPr marL="111125" indent="-111125" algn="l"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en-US" b="1" dirty="0">
                <a:latin typeface="Arial" pitchFamily="34" charset="0"/>
                <a:cs typeface="Arial" pitchFamily="34" charset="0"/>
              </a:rPr>
              <a:t> FUNCTIONS OF A SEMI-AUTOMATIC PISTOL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SLIDE</a:t>
            </a:r>
            <a:endParaRPr lang="en-US" b="1" dirty="0">
              <a:latin typeface="Arial" pitchFamily="34" charset="0"/>
              <a:cs typeface="Arial" pitchFamily="34" charset="0"/>
            </a:endParaRPr>
          </a:p>
          <a:p>
            <a:pPr marL="111125" indent="-111125" algn="l"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en-US" b="1" dirty="0">
                <a:latin typeface="Arial" pitchFamily="34" charset="0"/>
                <a:cs typeface="Arial" pitchFamily="34" charset="0"/>
              </a:rPr>
              <a:t>TYPES OF SEMI-AUTOMATIC PISTOL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ACTIONS</a:t>
            </a:r>
            <a:endParaRPr lang="en-US" b="1" dirty="0">
              <a:latin typeface="Arial" pitchFamily="34" charset="0"/>
              <a:cs typeface="Arial" pitchFamily="34" charset="0"/>
            </a:endParaRPr>
          </a:p>
          <a:p>
            <a:pPr marL="111125" indent="-111125" algn="l">
              <a:tabLst>
                <a:tab pos="0" algn="l"/>
              </a:tabLst>
              <a:defRPr/>
            </a:pPr>
            <a:endParaRPr lang="en-US" b="1" dirty="0">
              <a:latin typeface="Arial" pitchFamily="34" charset="0"/>
              <a:cs typeface="Arial" pitchFamily="34" charset="0"/>
            </a:endParaRPr>
          </a:p>
          <a:p>
            <a:pPr marL="111125" indent="-111125" algn="l">
              <a:tabLst>
                <a:tab pos="0" algn="l"/>
              </a:tabLst>
              <a:defRPr/>
            </a:pPr>
            <a:endParaRPr lang="en-US" b="1" dirty="0">
              <a:latin typeface="Arial" pitchFamily="34" charset="0"/>
              <a:cs typeface="Arial" pitchFamily="34" charset="0"/>
            </a:endParaRPr>
          </a:p>
          <a:p>
            <a:pPr marL="111125" indent="-111125" algn="l">
              <a:tabLst>
                <a:tab pos="0" algn="l"/>
              </a:tabLst>
              <a:defRPr/>
            </a:pPr>
            <a:endParaRPr lang="en-US" b="1" dirty="0">
              <a:latin typeface="Arial" pitchFamily="34" charset="0"/>
              <a:cs typeface="Arial" pitchFamily="34" charset="0"/>
            </a:endParaRPr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l">
              <a:defRPr/>
            </a:pPr>
            <a:endParaRPr lang="en-US" dirty="0"/>
          </a:p>
          <a:p>
            <a:pPr algn="l">
              <a:defRPr/>
            </a:pPr>
            <a:endParaRPr lang="en-US" dirty="0"/>
          </a:p>
          <a:p>
            <a:pPr algn="l">
              <a:defRPr/>
            </a:pPr>
            <a:r>
              <a:rPr lang="en-US" dirty="0"/>
              <a:t> </a:t>
            </a:r>
          </a:p>
          <a:p>
            <a:pPr algn="l">
              <a:defRPr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  <a:defRPr/>
            </a:pPr>
            <a:endParaRPr lang="en-US" dirty="0"/>
          </a:p>
        </p:txBody>
      </p:sp>
      <p:sp>
        <p:nvSpPr>
          <p:cNvPr id="26627" name="TextBox 4"/>
          <p:cNvSpPr txBox="1">
            <a:spLocks noChangeArrowheads="1"/>
          </p:cNvSpPr>
          <p:nvPr/>
        </p:nvSpPr>
        <p:spPr bwMode="auto">
          <a:xfrm>
            <a:off x="5105400" y="6096001"/>
            <a:ext cx="4495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400" dirty="0">
              <a:solidFill>
                <a:prstClr val="black"/>
              </a:solidFill>
            </a:endParaRPr>
          </a:p>
          <a:p>
            <a:pPr eaLnBrk="1" hangingPunct="1"/>
            <a:r>
              <a:rPr lang="en-US" altLang="en-US" sz="1400" dirty="0" smtClean="0">
                <a:solidFill>
                  <a:prstClr val="black"/>
                </a:solidFill>
              </a:rPr>
              <a:t>                                   </a:t>
            </a:r>
            <a:endParaRPr lang="en-US" altLang="en-US" sz="1400" dirty="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24000" y="1524000"/>
            <a:ext cx="1371600" cy="5334000"/>
          </a:xfrm>
          <a:prstGeom prst="rect">
            <a:avLst/>
          </a:prstGeom>
          <a:gradFill flip="none" rotWithShape="1">
            <a:gsLst>
              <a:gs pos="0">
                <a:srgbClr val="EC1010">
                  <a:tint val="66000"/>
                  <a:satMod val="160000"/>
                </a:srgbClr>
              </a:gs>
              <a:gs pos="50000">
                <a:srgbClr val="EC1010">
                  <a:tint val="44500"/>
                  <a:satMod val="160000"/>
                </a:srgbClr>
              </a:gs>
              <a:gs pos="100000">
                <a:srgbClr val="EC101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6630" name="Title 3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676400"/>
          </a:xfrm>
          <a:solidFill>
            <a:srgbClr val="EC1010"/>
          </a:solidFill>
        </p:spPr>
        <p:txBody>
          <a:bodyPr/>
          <a:lstStyle/>
          <a:p>
            <a:pPr eaLnBrk="1" hangingPunct="1"/>
            <a:r>
              <a:rPr lang="en-US" altLang="en-US" sz="3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LESSON </a:t>
            </a:r>
            <a:r>
              <a:rPr lang="en-US" alt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SUMMARY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5D2BE-B0D4-4AC6-A9D6-1740EFEF459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6859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1057</Words>
  <Application>Microsoft Office PowerPoint</Application>
  <PresentationFormat>Widescreen</PresentationFormat>
  <Paragraphs>581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Calibri Light</vt:lpstr>
      <vt:lpstr>Wingdings</vt:lpstr>
      <vt:lpstr>Office Theme</vt:lpstr>
      <vt:lpstr>1_Office Theme</vt:lpstr>
      <vt:lpstr>2_Office Theme</vt:lpstr>
      <vt:lpstr>   </vt:lpstr>
      <vt:lpstr>ADMINISTRATIVE ITEMS</vt:lpstr>
      <vt:lpstr>   COURSE GOAL</vt:lpstr>
      <vt:lpstr>Why do you want to carry a concealed weapon??</vt:lpstr>
      <vt:lpstr>LESSON I: PISTOL KNOWLEDGE AND  SAFE GUN HANDLING </vt:lpstr>
      <vt:lpstr>CAUSES OF FIREARM ACCIDENTS</vt:lpstr>
      <vt:lpstr>NRA RULES FOR SAFE GUN HANDLING</vt:lpstr>
      <vt:lpstr>SLED’S FOUR CARDINAL RULES OF FIREARM SAFETY</vt:lpstr>
      <vt:lpstr>SAFE TRIGGER FINGER POSITION</vt:lpstr>
      <vt:lpstr>NRA RULES FOR USING AND STORING A GUN</vt:lpstr>
      <vt:lpstr>PISTOL STORAGE</vt:lpstr>
      <vt:lpstr>COMMON PISTOL ACTION TYPES</vt:lpstr>
      <vt:lpstr>MAIN PARTS OF A REVOLVER</vt:lpstr>
      <vt:lpstr>REVOLVER FRAME COMPONENTS</vt:lpstr>
      <vt:lpstr>PARTS OF A REVOLVER BARREL</vt:lpstr>
      <vt:lpstr>LANDS &amp; GROOVES</vt:lpstr>
      <vt:lpstr>DOUBLE-ACTION REVOLVER  ACTION PARTS</vt:lpstr>
      <vt:lpstr>SINGLE-ACTION REVOLVER  ACTION PARTS</vt:lpstr>
      <vt:lpstr>SINGLE- AND DOUBLE-ACTION REVOLVERS</vt:lpstr>
      <vt:lpstr>MAIN PARTS OF A  SEMI-AUTOMATIC PISTOL </vt:lpstr>
      <vt:lpstr>PARTS OF A SEMI-AUTOMATIC PISTOL FRAME</vt:lpstr>
      <vt:lpstr>PARTS OF A SEMI-AUTOMATIC PISTOL BARREL</vt:lpstr>
      <vt:lpstr>LANDS &amp; GROOVES</vt:lpstr>
      <vt:lpstr>SEMI-AUTOMATIC PISTOL ACTION PARTS</vt:lpstr>
      <vt:lpstr>FUNCTIONS OF A  SEMI-AUTOMATIC PISTOL SLIDE</vt:lpstr>
      <vt:lpstr>TYPES OF SEMI-AUTOMATIC  PISTOL ACTIONS</vt:lpstr>
      <vt:lpstr>LESSON I SUMMARY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</dc:title>
  <dc:creator>Kenny Coltharp</dc:creator>
  <cp:lastModifiedBy>Kenny Coltharp</cp:lastModifiedBy>
  <cp:revision>5</cp:revision>
  <cp:lastPrinted>2016-03-18T16:58:42Z</cp:lastPrinted>
  <dcterms:created xsi:type="dcterms:W3CDTF">2016-03-17T16:04:09Z</dcterms:created>
  <dcterms:modified xsi:type="dcterms:W3CDTF">2016-03-24T14:24:30Z</dcterms:modified>
</cp:coreProperties>
</file>