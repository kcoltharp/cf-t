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9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038A0-CF2B-460D-98CB-316EA8EA8EA7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28402-5AB4-41C4-B6BF-F4DC6AC84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04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14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89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744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07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007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435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631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65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67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6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3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2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2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0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6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7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8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8691B-8221-474D-BD15-C8704E2295EA}" type="datetimeFigureOut">
              <a:rPr lang="en-US" smtClean="0"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08CAE-3774-4727-B7EF-E1FB17871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2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819400"/>
            <a:ext cx="6477000" cy="2895600"/>
          </a:xfrm>
        </p:spPr>
        <p:txBody>
          <a:bodyPr rtlCol="0">
            <a:normAutofit fontScale="47500" lnSpcReduction="20000"/>
          </a:bodyPr>
          <a:lstStyle/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 fontScale="90000"/>
          </a:bodyPr>
          <a:lstStyle/>
          <a:p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bg1"/>
                </a:solidFill>
              </a:rPr>
              <a:t/>
            </a:r>
            <a:br>
              <a:rPr lang="en-US" altLang="en-US" sz="1600" dirty="0">
                <a:solidFill>
                  <a:schemeClr val="bg1"/>
                </a:solidFill>
              </a:rPr>
            </a:b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 II: </a:t>
            </a:r>
            <a: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4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 Aspects of Concealed Carry</a:t>
            </a:r>
            <a:br>
              <a:rPr lang="en-US" altLang="en-US" sz="4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4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Confrontation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0" y="1959749"/>
            <a:ext cx="76200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NewRomanPS-BoldMT"/>
              </a:rPr>
              <a:t>Federal Law</a:t>
            </a:r>
          </a:p>
          <a:p>
            <a:pPr algn="ctr"/>
            <a:endParaRPr lang="en-US" b="1" dirty="0">
              <a:latin typeface="TimesNewRomanPS-BoldMT"/>
            </a:endParaRPr>
          </a:p>
          <a:p>
            <a:r>
              <a:rPr lang="en-US" dirty="0">
                <a:latin typeface="TimesNewRomanPSMT"/>
              </a:rPr>
              <a:t>Persons who </a:t>
            </a:r>
            <a:r>
              <a:rPr lang="en-US" b="1" u="sng" dirty="0">
                <a:latin typeface="TimesNewRomanPSMT"/>
              </a:rPr>
              <a:t>cannot</a:t>
            </a:r>
            <a:r>
              <a:rPr lang="en-US" dirty="0">
                <a:latin typeface="TimesNewRomanPSMT"/>
              </a:rPr>
              <a:t> legally own or possess firearms:</a:t>
            </a:r>
          </a:p>
          <a:p>
            <a:r>
              <a:rPr lang="en-US" dirty="0">
                <a:latin typeface="TimesNewRomanPSMT"/>
              </a:rPr>
              <a:t>1. Persons who have renounced their U.S. citizenship.</a:t>
            </a:r>
          </a:p>
          <a:p>
            <a:r>
              <a:rPr lang="en-US" dirty="0">
                <a:latin typeface="TimesNewRomanPSMT"/>
              </a:rPr>
              <a:t>2. Individuals who have been dishonorably </a:t>
            </a:r>
            <a:r>
              <a:rPr lang="en-US" dirty="0" smtClean="0">
                <a:latin typeface="TimesNewRomanPSMT"/>
              </a:rPr>
              <a:t>discharged from </a:t>
            </a:r>
            <a:r>
              <a:rPr lang="en-US" dirty="0">
                <a:latin typeface="TimesNewRomanPSMT"/>
              </a:rPr>
              <a:t>military service.</a:t>
            </a:r>
          </a:p>
          <a:p>
            <a:r>
              <a:rPr lang="en-US" dirty="0">
                <a:latin typeface="TimesNewRomanPSMT"/>
              </a:rPr>
              <a:t>3. Individuals who have been convicted of a felony.</a:t>
            </a:r>
          </a:p>
          <a:p>
            <a:r>
              <a:rPr lang="en-US" dirty="0">
                <a:latin typeface="TimesNewRomanPSMT"/>
              </a:rPr>
              <a:t>4. Unlawful users of narcotics or drugs.</a:t>
            </a:r>
          </a:p>
          <a:p>
            <a:r>
              <a:rPr lang="en-US" dirty="0">
                <a:latin typeface="TimesNewRomanPSMT"/>
              </a:rPr>
              <a:t>5. Anyone with one of several types of mental </a:t>
            </a:r>
            <a:r>
              <a:rPr lang="en-US" dirty="0" smtClean="0">
                <a:latin typeface="TimesNewRomanPSMT"/>
              </a:rPr>
              <a:t>illnesses or </a:t>
            </a:r>
            <a:r>
              <a:rPr lang="en-US" dirty="0">
                <a:latin typeface="TimesNewRomanPSMT"/>
              </a:rPr>
              <a:t>anyone who has been committed to a </a:t>
            </a:r>
            <a:r>
              <a:rPr lang="en-US" dirty="0" smtClean="0">
                <a:latin typeface="TimesNewRomanPSMT"/>
              </a:rPr>
              <a:t>mental institution </a:t>
            </a:r>
            <a:r>
              <a:rPr lang="en-US" dirty="0">
                <a:latin typeface="TimesNewRomanPSMT"/>
              </a:rPr>
              <a:t>or has been adjudicated mentally ill.</a:t>
            </a:r>
          </a:p>
          <a:p>
            <a:r>
              <a:rPr lang="en-US" dirty="0">
                <a:latin typeface="TimesNewRomanPSMT"/>
              </a:rPr>
              <a:t>6. Illegal aliens. (Registered aliens can legally </a:t>
            </a:r>
            <a:r>
              <a:rPr lang="en-US" dirty="0" smtClean="0">
                <a:latin typeface="TimesNewRomanPSMT"/>
              </a:rPr>
              <a:t>own firearms</a:t>
            </a:r>
            <a:r>
              <a:rPr lang="en-US" dirty="0">
                <a:latin typeface="TimesNewRomanPSMT"/>
              </a:rPr>
              <a:t>.)</a:t>
            </a:r>
          </a:p>
          <a:p>
            <a:r>
              <a:rPr lang="en-US" dirty="0">
                <a:latin typeface="TimesNewRomanPSMT"/>
              </a:rPr>
              <a:t>7. Persons convicted of crime of domestic violence </a:t>
            </a:r>
            <a:r>
              <a:rPr lang="en-US" dirty="0" smtClean="0">
                <a:latin typeface="TimesNewRomanPSMT"/>
              </a:rPr>
              <a:t>or subject </a:t>
            </a:r>
            <a:r>
              <a:rPr lang="en-US" dirty="0">
                <a:latin typeface="TimesNewRomanPSMT"/>
              </a:rPr>
              <a:t>to a restraining order</a:t>
            </a:r>
            <a:r>
              <a:rPr lang="en-US" dirty="0" smtClean="0">
                <a:latin typeface="TimesNewRomanPSMT"/>
              </a:rPr>
              <a:t>.</a:t>
            </a:r>
          </a:p>
          <a:p>
            <a:endParaRPr lang="en-US" sz="100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37596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819400"/>
            <a:ext cx="6477000" cy="2895600"/>
          </a:xfrm>
        </p:spPr>
        <p:txBody>
          <a:bodyPr rtlCol="0">
            <a:normAutofit fontScale="47500" lnSpcReduction="20000"/>
          </a:bodyPr>
          <a:lstStyle/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b="1" dirty="0" smtClean="0">
                <a:solidFill>
                  <a:schemeClr val="bg1"/>
                </a:solidFill>
              </a:rPr>
              <a:t>State Law</a:t>
            </a:r>
            <a:endParaRPr lang="en-US" altLang="en-US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92511" y="1676400"/>
            <a:ext cx="7397578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 smtClean="0"/>
              <a:t>Requirements </a:t>
            </a:r>
            <a:r>
              <a:rPr lang="en-US" sz="1700" b="1" dirty="0"/>
              <a:t>for permit:</a:t>
            </a:r>
          </a:p>
          <a:p>
            <a:r>
              <a:rPr lang="en-US" sz="1700" dirty="0"/>
              <a:t>a. SC resident present in South Carolina with </a:t>
            </a:r>
            <a:r>
              <a:rPr lang="en-US" sz="1700" dirty="0" smtClean="0"/>
              <a:t>the intention </a:t>
            </a:r>
            <a:r>
              <a:rPr lang="en-US" sz="1700" dirty="0"/>
              <a:t>of making a permanent home in South </a:t>
            </a:r>
            <a:r>
              <a:rPr lang="en-US" sz="1700" dirty="0" smtClean="0"/>
              <a:t>Carolina or </a:t>
            </a:r>
            <a:r>
              <a:rPr lang="en-US" sz="1700" dirty="0"/>
              <a:t>military personnel on permanent change of station.</a:t>
            </a:r>
          </a:p>
          <a:p>
            <a:r>
              <a:rPr lang="en-US" sz="1700" dirty="0"/>
              <a:t>b. Suitably training – SLED approved course; </a:t>
            </a:r>
            <a:r>
              <a:rPr lang="en-US" sz="1700" dirty="0" smtClean="0"/>
              <a:t>SLED approved </a:t>
            </a:r>
            <a:r>
              <a:rPr lang="en-US" sz="1700" dirty="0"/>
              <a:t>instructor; exemptions for military and LEO.</a:t>
            </a:r>
          </a:p>
          <a:p>
            <a:r>
              <a:rPr lang="en-US" sz="1700" dirty="0"/>
              <a:t>c. Vision requirement – 20/40.</a:t>
            </a:r>
          </a:p>
          <a:p>
            <a:r>
              <a:rPr lang="en-US" sz="1700" dirty="0"/>
              <a:t>d. Age requirement – 21.</a:t>
            </a:r>
          </a:p>
          <a:p>
            <a:r>
              <a:rPr lang="en-US" sz="1700" dirty="0"/>
              <a:t>e. Non-resident Real Property </a:t>
            </a:r>
            <a:r>
              <a:rPr lang="en-US" sz="1700" dirty="0" smtClean="0"/>
              <a:t>owner</a:t>
            </a:r>
          </a:p>
          <a:p>
            <a:r>
              <a:rPr lang="en-US" sz="1700" b="1" dirty="0" smtClean="0"/>
              <a:t>23-31-215 </a:t>
            </a:r>
            <a:r>
              <a:rPr lang="en-US" sz="1700" b="1" dirty="0"/>
              <a:t>J, K, and L. Permit</a:t>
            </a:r>
            <a:endParaRPr lang="en-US" sz="1700" dirty="0"/>
          </a:p>
          <a:p>
            <a:pPr marL="342900" indent="-342900">
              <a:buAutoNum type="alphaLcPeriod"/>
            </a:pPr>
            <a:r>
              <a:rPr lang="en-US" sz="1700" dirty="0" smtClean="0"/>
              <a:t>Must </a:t>
            </a:r>
            <a:r>
              <a:rPr lang="en-US" sz="1700" dirty="0"/>
              <a:t>have permit ID card when carrying </a:t>
            </a:r>
            <a:r>
              <a:rPr lang="en-US" sz="1700" dirty="0" smtClean="0"/>
              <a:t>a concealable </a:t>
            </a:r>
            <a:r>
              <a:rPr lang="en-US" sz="1700" dirty="0"/>
              <a:t>weapon</a:t>
            </a:r>
            <a:r>
              <a:rPr lang="en-US" sz="1700" dirty="0" smtClean="0"/>
              <a:t>.</a:t>
            </a:r>
          </a:p>
          <a:p>
            <a:r>
              <a:rPr lang="en-US" sz="1700" dirty="0"/>
              <a:t>b. When carrying a concealable weapon, holder</a:t>
            </a:r>
          </a:p>
          <a:p>
            <a:r>
              <a:rPr lang="en-US" sz="1700" dirty="0"/>
              <a:t>must inform a law enforcement officer and present ID</a:t>
            </a:r>
          </a:p>
          <a:p>
            <a:r>
              <a:rPr lang="en-US" sz="1700" dirty="0"/>
              <a:t>card when officer identifies himself and requests ID or</a:t>
            </a:r>
          </a:p>
          <a:p>
            <a:r>
              <a:rPr lang="en-US" sz="1700" dirty="0"/>
              <a:t>driver’s license.</a:t>
            </a:r>
          </a:p>
          <a:p>
            <a:r>
              <a:rPr lang="en-US" sz="1700" dirty="0"/>
              <a:t>c. Must report loss or theft of permit ID.</a:t>
            </a:r>
          </a:p>
          <a:p>
            <a:r>
              <a:rPr lang="en-US" sz="1700" dirty="0"/>
              <a:t>d. Surrender permit if revoked.</a:t>
            </a:r>
          </a:p>
          <a:p>
            <a:r>
              <a:rPr lang="en-US" sz="1700" dirty="0"/>
              <a:t>e. Notify SLED of change of permanent address.</a:t>
            </a:r>
          </a:p>
        </p:txBody>
      </p:sp>
    </p:spTree>
    <p:extLst>
      <p:ext uri="{BB962C8B-B14F-4D97-AF65-F5344CB8AC3E}">
        <p14:creationId xmlns:p14="http://schemas.microsoft.com/office/powerpoint/2010/main" val="9789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819400"/>
            <a:ext cx="6477000" cy="2895600"/>
          </a:xfrm>
        </p:spPr>
        <p:txBody>
          <a:bodyPr rtlCol="0">
            <a:normAutofit fontScale="47500" lnSpcReduction="20000"/>
          </a:bodyPr>
          <a:lstStyle/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bg1"/>
                </a:solidFill>
              </a:rPr>
              <a:t/>
            </a:r>
            <a:br>
              <a:rPr lang="en-US" altLang="en-US" sz="1600" dirty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Interactions </a:t>
            </a:r>
            <a:r>
              <a:rPr lang="en-US" sz="3600" b="1" dirty="0">
                <a:solidFill>
                  <a:schemeClr val="bg1"/>
                </a:solidFill>
                <a:latin typeface="TimesNewRomanPS-BoldMT"/>
              </a:rPr>
              <a:t>with </a:t>
            </a: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Law Enforcement Officers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0" y="2459504"/>
            <a:ext cx="7620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/>
              </a:rPr>
              <a:t>When </a:t>
            </a:r>
            <a:r>
              <a:rPr lang="en-US" dirty="0">
                <a:latin typeface="TimesNewRomanPSMT"/>
              </a:rPr>
              <a:t>stopped by a law enforcement officer </a:t>
            </a:r>
            <a:r>
              <a:rPr lang="en-US" dirty="0" smtClean="0">
                <a:latin typeface="TimesNewRomanPSMT"/>
              </a:rPr>
              <a:t>while armed</a:t>
            </a:r>
            <a:r>
              <a:rPr lang="en-US" dirty="0">
                <a:latin typeface="TimesNewRomanPSMT"/>
              </a:rPr>
              <a:t>, keep both hands on the steering wheel, advise </a:t>
            </a:r>
            <a:r>
              <a:rPr lang="en-US" dirty="0" smtClean="0">
                <a:latin typeface="TimesNewRomanPSMT"/>
              </a:rPr>
              <a:t>the officer </a:t>
            </a:r>
            <a:r>
              <a:rPr lang="en-US" dirty="0">
                <a:latin typeface="TimesNewRomanPSMT"/>
              </a:rPr>
              <a:t>that you are a CWP holder and are armed (</a:t>
            </a:r>
            <a:r>
              <a:rPr lang="en-US" dirty="0" smtClean="0">
                <a:latin typeface="TimesNewRomanPSMT"/>
              </a:rPr>
              <a:t>see above</a:t>
            </a:r>
            <a:r>
              <a:rPr lang="en-US" dirty="0">
                <a:latin typeface="TimesNewRomanPSMT"/>
              </a:rPr>
              <a:t>), and follow the officer’s directions.</a:t>
            </a:r>
          </a:p>
          <a:p>
            <a:endParaRPr lang="en-US" dirty="0" smtClean="0">
              <a:latin typeface="TimesNewRomanPSMT"/>
            </a:endParaRPr>
          </a:p>
          <a:p>
            <a:r>
              <a:rPr lang="en-US" dirty="0" smtClean="0">
                <a:latin typeface="TimesNewRomanPSMT"/>
              </a:rPr>
              <a:t>When </a:t>
            </a:r>
            <a:r>
              <a:rPr lang="en-US" dirty="0">
                <a:latin typeface="TimesNewRomanPSMT"/>
              </a:rPr>
              <a:t>in a deadly force confrontation which </a:t>
            </a:r>
            <a:r>
              <a:rPr lang="en-US" dirty="0" smtClean="0">
                <a:latin typeface="TimesNewRomanPSMT"/>
              </a:rPr>
              <a:t>results in </a:t>
            </a:r>
            <a:r>
              <a:rPr lang="en-US" dirty="0">
                <a:latin typeface="TimesNewRomanPSMT"/>
              </a:rPr>
              <a:t>holding the assailant at gunpoint while waiting for </a:t>
            </a:r>
            <a:r>
              <a:rPr lang="en-US" dirty="0" smtClean="0">
                <a:latin typeface="TimesNewRomanPSMT"/>
              </a:rPr>
              <a:t>the police </a:t>
            </a:r>
            <a:r>
              <a:rPr lang="en-US" dirty="0">
                <a:latin typeface="TimesNewRomanPSMT"/>
              </a:rPr>
              <a:t>to arrive, you should do exactly as the </a:t>
            </a:r>
            <a:r>
              <a:rPr lang="en-US" dirty="0" smtClean="0">
                <a:latin typeface="TimesNewRomanPSMT"/>
              </a:rPr>
              <a:t>officer directs</a:t>
            </a:r>
            <a:r>
              <a:rPr lang="en-US" dirty="0">
                <a:latin typeface="TimesNewRomanPSMT"/>
              </a:rPr>
              <a:t>. Do not do anything that could be perceived as </a:t>
            </a:r>
            <a:r>
              <a:rPr lang="en-US" dirty="0" smtClean="0">
                <a:latin typeface="TimesNewRomanPSMT"/>
              </a:rPr>
              <a:t>a threat</a:t>
            </a:r>
            <a:r>
              <a:rPr lang="en-US" dirty="0">
                <a:latin typeface="TimesNewRomanPSMT"/>
              </a:rPr>
              <a:t>. Keep your hands visible. Identify yourself as </a:t>
            </a:r>
            <a:r>
              <a:rPr lang="en-US" dirty="0" smtClean="0">
                <a:latin typeface="TimesNewRomanPSMT"/>
              </a:rPr>
              <a:t>a CWP </a:t>
            </a:r>
            <a:r>
              <a:rPr lang="en-US" dirty="0">
                <a:latin typeface="TimesNewRomanPSMT"/>
              </a:rPr>
              <a:t>holder, and explain the situation briefly to </a:t>
            </a:r>
            <a:r>
              <a:rPr lang="en-US" dirty="0" smtClean="0">
                <a:latin typeface="TimesNewRomanPSMT"/>
              </a:rPr>
              <a:t>the officer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27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819400"/>
            <a:ext cx="6477000" cy="1587843"/>
          </a:xfrm>
        </p:spPr>
        <p:txBody>
          <a:bodyPr rtlCol="0">
            <a:normAutofit fontScale="25000" lnSpcReduction="20000"/>
          </a:bodyPr>
          <a:lstStyle/>
          <a:p>
            <a:pPr algn="l"/>
            <a:r>
              <a:rPr lang="en-US" sz="7200" dirty="0" smtClean="0"/>
              <a:t>Secured </a:t>
            </a:r>
            <a:r>
              <a:rPr lang="en-US" sz="7200" dirty="0"/>
              <a:t>in closed glove compartment, </a:t>
            </a:r>
            <a:r>
              <a:rPr lang="en-US" sz="7200" dirty="0" smtClean="0"/>
              <a:t>closed console</a:t>
            </a:r>
            <a:r>
              <a:rPr lang="en-US" sz="7200" dirty="0"/>
              <a:t>, of luggage compartment (trunk or in </a:t>
            </a:r>
            <a:r>
              <a:rPr lang="en-US" sz="7200" dirty="0" smtClean="0"/>
              <a:t>luggage space </a:t>
            </a:r>
            <a:r>
              <a:rPr lang="en-US" sz="7200" dirty="0"/>
              <a:t>behind rearmost seat in SUV, station wagon, </a:t>
            </a:r>
            <a:r>
              <a:rPr lang="en-US" sz="7200" dirty="0" smtClean="0"/>
              <a:t>or truck</a:t>
            </a:r>
            <a:r>
              <a:rPr lang="en-US" sz="7200" dirty="0"/>
              <a:t>.)</a:t>
            </a:r>
          </a:p>
          <a:p>
            <a:pPr algn="l"/>
            <a:r>
              <a:rPr lang="en-US" sz="7200" dirty="0" smtClean="0"/>
              <a:t>CWP </a:t>
            </a:r>
            <a:r>
              <a:rPr lang="en-US" sz="7200" dirty="0"/>
              <a:t>holder may have firearm on or about </a:t>
            </a:r>
            <a:r>
              <a:rPr lang="en-US" sz="7200" dirty="0" smtClean="0"/>
              <a:t>his person</a:t>
            </a:r>
            <a:r>
              <a:rPr lang="en-US" sz="7200" dirty="0"/>
              <a:t>, under the seat, or in any open or closed </a:t>
            </a:r>
            <a:r>
              <a:rPr lang="en-US" sz="7200" dirty="0" smtClean="0"/>
              <a:t>storage compartment </a:t>
            </a:r>
            <a:r>
              <a:rPr lang="en-US" sz="7200" dirty="0"/>
              <a:t>within the vehicles </a:t>
            </a:r>
            <a:r>
              <a:rPr lang="en-US" sz="7200" dirty="0" smtClean="0"/>
              <a:t>passenger compartment</a:t>
            </a:r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>
                <a:solidFill>
                  <a:schemeClr val="bg1"/>
                </a:solidFill>
              </a:rPr>
              <a:t/>
            </a:r>
            <a:br>
              <a:rPr lang="en-US" altLang="en-US" sz="1600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Carrying in a Vehicle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1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>
                <a:solidFill>
                  <a:schemeClr val="bg1"/>
                </a:solidFill>
              </a:rPr>
              <a:t/>
            </a:r>
            <a:br>
              <a:rPr lang="en-US" altLang="en-US" sz="1600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Places You Cannot Carry a Concealed Weapon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676400"/>
            <a:ext cx="9174893" cy="5034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 smtClean="0">
                <a:solidFill>
                  <a:prstClr val="black"/>
                </a:solidFill>
              </a:rPr>
              <a:t>a. Law </a:t>
            </a:r>
            <a:r>
              <a:rPr lang="en-US" sz="1700" dirty="0">
                <a:solidFill>
                  <a:prstClr val="black"/>
                </a:solidFill>
              </a:rPr>
              <a:t>enforcement, detention, or correction </a:t>
            </a:r>
            <a:r>
              <a:rPr lang="en-US" sz="1700" dirty="0" smtClean="0">
                <a:solidFill>
                  <a:prstClr val="black"/>
                </a:solidFill>
              </a:rPr>
              <a:t>facility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 smtClean="0">
                <a:solidFill>
                  <a:prstClr val="black"/>
                </a:solidFill>
              </a:rPr>
              <a:t>b</a:t>
            </a:r>
            <a:r>
              <a:rPr lang="en-US" sz="1700" dirty="0">
                <a:solidFill>
                  <a:prstClr val="black"/>
                </a:solidFill>
              </a:rPr>
              <a:t>. Courthouse or courtroom.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d. Polling place on election day.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e. Office or business meeting of governing body of </a:t>
            </a:r>
            <a:r>
              <a:rPr lang="en-US" sz="1700" dirty="0" smtClean="0">
                <a:solidFill>
                  <a:prstClr val="black"/>
                </a:solidFill>
              </a:rPr>
              <a:t>a county</a:t>
            </a:r>
            <a:r>
              <a:rPr lang="en-US" sz="1700" dirty="0">
                <a:solidFill>
                  <a:prstClr val="black"/>
                </a:solidFill>
              </a:rPr>
              <a:t>, public school, municipality, or special </a:t>
            </a:r>
            <a:r>
              <a:rPr lang="en-US" sz="1700" dirty="0" smtClean="0">
                <a:solidFill>
                  <a:prstClr val="black"/>
                </a:solidFill>
              </a:rPr>
              <a:t>purpose district.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 smtClean="0">
                <a:solidFill>
                  <a:prstClr val="black"/>
                </a:solidFill>
              </a:rPr>
              <a:t>f</a:t>
            </a:r>
            <a:r>
              <a:rPr lang="en-US" sz="1700" dirty="0">
                <a:solidFill>
                  <a:prstClr val="black"/>
                </a:solidFill>
              </a:rPr>
              <a:t>. Into a school or college athletic event and </a:t>
            </a:r>
            <a:r>
              <a:rPr lang="en-US" sz="1700" dirty="0" smtClean="0">
                <a:solidFill>
                  <a:prstClr val="black"/>
                </a:solidFill>
              </a:rPr>
              <a:t>not related </a:t>
            </a:r>
            <a:r>
              <a:rPr lang="en-US" sz="1700" dirty="0">
                <a:solidFill>
                  <a:prstClr val="black"/>
                </a:solidFill>
              </a:rPr>
              <a:t>to firearms.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g. Day care or pre-school facility.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h. Place where the carrying of firearms is </a:t>
            </a:r>
            <a:r>
              <a:rPr lang="en-US" sz="1700" dirty="0" smtClean="0">
                <a:solidFill>
                  <a:prstClr val="black"/>
                </a:solidFill>
              </a:rPr>
              <a:t>prohibited by </a:t>
            </a:r>
            <a:r>
              <a:rPr lang="en-US" sz="1700" dirty="0">
                <a:solidFill>
                  <a:prstClr val="black"/>
                </a:solidFill>
              </a:rPr>
              <a:t>federal law.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i. Church or other established religious </a:t>
            </a:r>
            <a:r>
              <a:rPr lang="en-US" sz="1700" dirty="0" smtClean="0">
                <a:solidFill>
                  <a:prstClr val="black"/>
                </a:solidFill>
              </a:rPr>
              <a:t>sanctuary unless </a:t>
            </a:r>
            <a:r>
              <a:rPr lang="en-US" sz="1700" dirty="0">
                <a:solidFill>
                  <a:prstClr val="black"/>
                </a:solidFill>
              </a:rPr>
              <a:t>express permission is given by the person </a:t>
            </a:r>
            <a:r>
              <a:rPr lang="en-US" sz="1700" dirty="0" smtClean="0">
                <a:solidFill>
                  <a:prstClr val="black"/>
                </a:solidFill>
              </a:rPr>
              <a:t>in charge</a:t>
            </a:r>
            <a:r>
              <a:rPr lang="en-US" sz="1700" dirty="0">
                <a:solidFill>
                  <a:prstClr val="black"/>
                </a:solidFill>
              </a:rPr>
              <a:t>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j. Hospital, medical clinic, doctor’s office, </a:t>
            </a:r>
            <a:r>
              <a:rPr lang="en-US" sz="1700" dirty="0" smtClean="0">
                <a:solidFill>
                  <a:prstClr val="black"/>
                </a:solidFill>
              </a:rPr>
              <a:t>any facility </a:t>
            </a:r>
            <a:r>
              <a:rPr lang="en-US" sz="1700" dirty="0">
                <a:solidFill>
                  <a:prstClr val="black"/>
                </a:solidFill>
              </a:rPr>
              <a:t>where medical services or procedures </a:t>
            </a:r>
            <a:r>
              <a:rPr lang="en-US" sz="1700" dirty="0" smtClean="0">
                <a:solidFill>
                  <a:prstClr val="black"/>
                </a:solidFill>
              </a:rPr>
              <a:t>performed except </a:t>
            </a:r>
            <a:r>
              <a:rPr lang="en-US" sz="1700" dirty="0">
                <a:solidFill>
                  <a:prstClr val="black"/>
                </a:solidFill>
              </a:rPr>
              <a:t>with express permission of employer.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k. Into a private residence without permission.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l. Any place where carrying is prohibited by </a:t>
            </a:r>
            <a:r>
              <a:rPr lang="en-US" sz="1700" dirty="0" smtClean="0">
                <a:solidFill>
                  <a:prstClr val="black"/>
                </a:solidFill>
              </a:rPr>
              <a:t>proper sign</a:t>
            </a:r>
            <a:r>
              <a:rPr lang="en-US" sz="1700" dirty="0">
                <a:solidFill>
                  <a:prstClr val="black"/>
                </a:solidFill>
              </a:rPr>
              <a:t>, unless written permission of owner. What is a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prstClr val="black"/>
                </a:solidFill>
              </a:rPr>
              <a:t>proper sign? See Sec. 23-31-235</a:t>
            </a:r>
            <a:r>
              <a:rPr lang="en-US" sz="1700" dirty="0" smtClean="0">
                <a:solidFill>
                  <a:prstClr val="black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09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>
                <a:solidFill>
                  <a:schemeClr val="bg1"/>
                </a:solidFill>
              </a:rPr>
              <a:t/>
            </a:r>
            <a:br>
              <a:rPr lang="en-US" altLang="en-US" sz="1600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Places You Cannot Carry a Concealed Weapon Continued…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1" y="1676400"/>
            <a:ext cx="8763000" cy="4357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600" b="1" dirty="0" smtClean="0">
                <a:solidFill>
                  <a:prstClr val="black"/>
                </a:solidFill>
              </a:rPr>
              <a:t>The </a:t>
            </a:r>
            <a:r>
              <a:rPr lang="en-US" sz="1600" b="1" dirty="0">
                <a:solidFill>
                  <a:prstClr val="black"/>
                </a:solidFill>
              </a:rPr>
              <a:t>following are the most serious offenses: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prstClr val="black"/>
                </a:solidFill>
              </a:rPr>
              <a:t>m. Premises of private or public school, </a:t>
            </a:r>
            <a:r>
              <a:rPr lang="en-US" sz="1600" dirty="0" smtClean="0">
                <a:solidFill>
                  <a:prstClr val="black"/>
                </a:solidFill>
              </a:rPr>
              <a:t>college, university</a:t>
            </a:r>
            <a:r>
              <a:rPr lang="en-US" sz="1600" dirty="0">
                <a:solidFill>
                  <a:prstClr val="black"/>
                </a:solidFill>
              </a:rPr>
              <a:t>, technical college, other post-secondary</a:t>
            </a:r>
          </a:p>
          <a:p>
            <a:r>
              <a:rPr lang="en-US" sz="1600" dirty="0">
                <a:solidFill>
                  <a:prstClr val="black"/>
                </a:solidFill>
              </a:rPr>
              <a:t>institution without express permission of persons </a:t>
            </a:r>
            <a:r>
              <a:rPr lang="en-US" sz="1600" dirty="0" smtClean="0">
                <a:solidFill>
                  <a:prstClr val="black"/>
                </a:solidFill>
              </a:rPr>
              <a:t>in charge</a:t>
            </a:r>
            <a:r>
              <a:rPr lang="en-US" sz="1600" dirty="0">
                <a:solidFill>
                  <a:prstClr val="black"/>
                </a:solidFill>
              </a:rPr>
              <a:t>. (Premises includes parking lots</a:t>
            </a:r>
            <a:r>
              <a:rPr lang="en-US" sz="1600" dirty="0" smtClean="0">
                <a:solidFill>
                  <a:prstClr val="black"/>
                </a:solidFill>
              </a:rPr>
              <a:t>). </a:t>
            </a:r>
            <a:r>
              <a:rPr lang="en-US" sz="1600" b="1" u="sng" dirty="0" smtClean="0">
                <a:solidFill>
                  <a:prstClr val="black"/>
                </a:solidFill>
              </a:rPr>
              <a:t>Exceptions</a:t>
            </a:r>
            <a:r>
              <a:rPr lang="en-US" sz="1600" b="1" u="sng" dirty="0">
                <a:solidFill>
                  <a:prstClr val="black"/>
                </a:solidFill>
              </a:rPr>
              <a:t>: </a:t>
            </a:r>
            <a:r>
              <a:rPr lang="en-US" sz="1600" dirty="0">
                <a:solidFill>
                  <a:prstClr val="black"/>
                </a:solidFill>
              </a:rPr>
              <a:t>CWP holder may enter the parking </a:t>
            </a:r>
            <a:r>
              <a:rPr lang="en-US" sz="1600" dirty="0" smtClean="0">
                <a:solidFill>
                  <a:prstClr val="black"/>
                </a:solidFill>
              </a:rPr>
              <a:t>lot with </a:t>
            </a:r>
            <a:r>
              <a:rPr lang="en-US" sz="1600" dirty="0">
                <a:solidFill>
                  <a:prstClr val="black"/>
                </a:solidFill>
              </a:rPr>
              <a:t>a handgun in a vehicle, provided that: the gun is </a:t>
            </a:r>
            <a:r>
              <a:rPr lang="en-US" sz="1600" dirty="0" smtClean="0">
                <a:solidFill>
                  <a:prstClr val="black"/>
                </a:solidFill>
              </a:rPr>
              <a:t>in the </a:t>
            </a:r>
            <a:r>
              <a:rPr lang="en-US" sz="1600" dirty="0">
                <a:solidFill>
                  <a:prstClr val="black"/>
                </a:solidFill>
              </a:rPr>
              <a:t>glove compartment, console, or trunk (</a:t>
            </a:r>
            <a:r>
              <a:rPr lang="en-US" sz="1600" dirty="0" smtClean="0">
                <a:solidFill>
                  <a:prstClr val="black"/>
                </a:solidFill>
              </a:rPr>
              <a:t>luggage </a:t>
            </a:r>
            <a:r>
              <a:rPr lang="en-US" sz="1600" dirty="0"/>
              <a:t>compartment), NOT on the CWP holder’s person, </a:t>
            </a:r>
            <a:r>
              <a:rPr lang="en-US" sz="1600" dirty="0" smtClean="0"/>
              <a:t>and the </a:t>
            </a:r>
            <a:r>
              <a:rPr lang="en-US" sz="1600" dirty="0"/>
              <a:t>vehicle is locked if the CWP holder exits the vehicle.</a:t>
            </a:r>
          </a:p>
          <a:p>
            <a:endParaRPr lang="en-US" sz="1600" dirty="0" smtClean="0"/>
          </a:p>
          <a:p>
            <a:r>
              <a:rPr lang="en-US" sz="1600" dirty="0" smtClean="0"/>
              <a:t>n</a:t>
            </a:r>
            <a:r>
              <a:rPr lang="en-US" sz="1600" dirty="0"/>
              <a:t>. Inside publicly owned building of any kind </a:t>
            </a:r>
            <a:r>
              <a:rPr lang="en-US" sz="1600" dirty="0" smtClean="0"/>
              <a:t>except interstate </a:t>
            </a:r>
            <a:r>
              <a:rPr lang="en-US" sz="1600" dirty="0"/>
              <a:t>highway rest areas. Also concealed carry is</a:t>
            </a:r>
          </a:p>
          <a:p>
            <a:r>
              <a:rPr lang="en-US" sz="1600" dirty="0"/>
              <a:t>permitted in parks, under the jurisdiction of </a:t>
            </a:r>
            <a:r>
              <a:rPr lang="en-US" sz="1600" dirty="0" smtClean="0"/>
              <a:t>State Department </a:t>
            </a:r>
            <a:r>
              <a:rPr lang="en-US" sz="1600" dirty="0"/>
              <a:t>of Parks, Recreation and Tourism.</a:t>
            </a:r>
          </a:p>
          <a:p>
            <a:endParaRPr lang="en-US" sz="1600" dirty="0" smtClean="0"/>
          </a:p>
          <a:p>
            <a:r>
              <a:rPr lang="en-US" sz="1600" dirty="0" smtClean="0"/>
              <a:t>o</a:t>
            </a:r>
            <a:r>
              <a:rPr lang="en-US" sz="1600" dirty="0"/>
              <a:t>. Inside an establishment licensed for </a:t>
            </a:r>
            <a:r>
              <a:rPr lang="en-US" sz="1600" dirty="0" smtClean="0"/>
              <a:t>on-premises consumption </a:t>
            </a:r>
            <a:r>
              <a:rPr lang="en-US" sz="1600" dirty="0"/>
              <a:t>of alcohol is no longer prohibited provided</a:t>
            </a:r>
          </a:p>
          <a:p>
            <a:r>
              <a:rPr lang="en-US" sz="1600" dirty="0"/>
              <a:t>that: the property is not posted with a proper sign; </a:t>
            </a:r>
            <a:r>
              <a:rPr lang="en-US" sz="1600" dirty="0" smtClean="0"/>
              <a:t>the permit </a:t>
            </a:r>
            <a:r>
              <a:rPr lang="en-US" sz="1600" dirty="0"/>
              <a:t>holder does not drink on premises; if asked to</a:t>
            </a:r>
          </a:p>
          <a:p>
            <a:r>
              <a:rPr lang="en-US" sz="1600" dirty="0"/>
              <a:t>leave, the permit holder must leave on </a:t>
            </a:r>
            <a:r>
              <a:rPr lang="en-US" sz="1600" dirty="0" smtClean="0"/>
              <a:t>request. </a:t>
            </a:r>
            <a:r>
              <a:rPr lang="en-US" sz="1600" u="sng" dirty="0" smtClean="0"/>
              <a:t>An </a:t>
            </a:r>
            <a:r>
              <a:rPr lang="en-US" sz="1600" u="sng" dirty="0"/>
              <a:t>owner or agent of a posted facility may </a:t>
            </a:r>
            <a:r>
              <a:rPr lang="en-US" sz="1600" u="sng" dirty="0" smtClean="0"/>
              <a:t>give written </a:t>
            </a:r>
            <a:r>
              <a:rPr lang="en-US" sz="1600" u="sng" dirty="0"/>
              <a:t>permission to enter a posted facility.</a:t>
            </a:r>
            <a:endParaRPr lang="en-US" sz="1600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4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dirty="0" smtClean="0">
                <a:solidFill>
                  <a:schemeClr val="bg1"/>
                </a:solidFill>
              </a:rPr>
              <a:t/>
            </a:r>
            <a:br>
              <a:rPr lang="en-US" altLang="en-US" sz="1600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Using a Firearm Under the Influence of Alcohol or Controlled Substance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959748"/>
            <a:ext cx="807719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eriod"/>
            </a:pPr>
            <a:r>
              <a:rPr lang="en-US" sz="1600" dirty="0" smtClean="0"/>
              <a:t>Definition </a:t>
            </a:r>
            <a:r>
              <a:rPr lang="en-US" sz="1600" dirty="0"/>
              <a:t>of “use of a firearm</a:t>
            </a:r>
            <a:r>
              <a:rPr lang="en-US" sz="1600" dirty="0" smtClean="0"/>
              <a:t>.”</a:t>
            </a:r>
          </a:p>
          <a:p>
            <a:pPr lvl="1"/>
            <a:r>
              <a:rPr lang="en-US" sz="1600" dirty="0" smtClean="0"/>
              <a:t>“use of a firearm” = means to discharge a firearm.</a:t>
            </a:r>
            <a:endParaRPr lang="en-US" sz="1600" dirty="0"/>
          </a:p>
          <a:p>
            <a:r>
              <a:rPr lang="en-US" sz="1600" dirty="0"/>
              <a:t>b. Blood alcohol test and its </a:t>
            </a:r>
            <a:r>
              <a:rPr lang="en-US" sz="1600" dirty="0" smtClean="0"/>
              <a:t>meaning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5 one-hundredths of one percent or less by weight of alcohol = presumed not under the influence.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an excess of 5 </a:t>
            </a:r>
            <a:r>
              <a:rPr lang="en-US" sz="1600" dirty="0"/>
              <a:t>one-hundredths of one percent </a:t>
            </a:r>
            <a:r>
              <a:rPr lang="en-US" sz="1600" dirty="0" smtClean="0"/>
              <a:t>but less than 8 one-hundredths </a:t>
            </a:r>
            <a:r>
              <a:rPr lang="en-US" sz="1600" dirty="0"/>
              <a:t>by weight of alcohol = </a:t>
            </a:r>
            <a:r>
              <a:rPr lang="en-US" sz="1600" dirty="0" smtClean="0"/>
              <a:t>does not presume under </a:t>
            </a:r>
            <a:r>
              <a:rPr lang="en-US" sz="1600" dirty="0"/>
              <a:t>the </a:t>
            </a:r>
            <a:r>
              <a:rPr lang="en-US" sz="1600" dirty="0" smtClean="0"/>
              <a:t>influence or not under the influence, but determined by other factors.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greater than 8 one-hundredths = under the influence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c. Single exception—persons lawfully </a:t>
            </a:r>
            <a:r>
              <a:rPr lang="en-US" sz="1600" dirty="0" smtClean="0"/>
              <a:t>defending themselves </a:t>
            </a:r>
            <a:r>
              <a:rPr lang="en-US" sz="1600" dirty="0"/>
              <a:t>or their property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 smtClean="0"/>
              <a:t>Section </a:t>
            </a:r>
            <a:r>
              <a:rPr lang="en-US" sz="1600" dirty="0"/>
              <a:t>16-23-410. It is unlawful to point </a:t>
            </a:r>
            <a:r>
              <a:rPr lang="en-US" sz="1600" dirty="0" smtClean="0"/>
              <a:t>or presents </a:t>
            </a:r>
            <a:r>
              <a:rPr lang="en-US" sz="1600" dirty="0"/>
              <a:t>a loaded or unloaded firearm at any person</a:t>
            </a:r>
            <a:r>
              <a:rPr lang="en-US" sz="1600" dirty="0" smtClean="0"/>
              <a:t>.</a:t>
            </a:r>
          </a:p>
          <a:p>
            <a:r>
              <a:rPr lang="en-US" sz="1600" u="sng" dirty="0" smtClean="0">
                <a:solidFill>
                  <a:prstClr val="black"/>
                </a:solidFill>
              </a:rPr>
              <a:t>A firearm is not used to “scare” persons who make us uncomfortable or any other reason to intimidate or influence other persons…</a:t>
            </a:r>
          </a:p>
          <a:p>
            <a:endParaRPr lang="en-US" sz="1600" u="sng" dirty="0">
              <a:solidFill>
                <a:prstClr val="black"/>
              </a:solidFill>
            </a:endParaRPr>
          </a:p>
          <a:p>
            <a:r>
              <a:rPr lang="en-US" sz="1600" b="1" u="sng" dirty="0" smtClean="0">
                <a:solidFill>
                  <a:prstClr val="black"/>
                </a:solidFill>
              </a:rPr>
              <a:t>Read information on case law.  Read the handout word for word.</a:t>
            </a:r>
            <a:endParaRPr lang="en-US" sz="1600" b="1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3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Self Defense and Defense of Others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959748"/>
            <a:ext cx="807719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Four </a:t>
            </a:r>
            <a:r>
              <a:rPr lang="en-US" sz="1600" dirty="0"/>
              <a:t>elements required to merit self defense:</a:t>
            </a:r>
          </a:p>
          <a:p>
            <a:r>
              <a:rPr lang="en-US" sz="1600" dirty="0" smtClean="0"/>
              <a:t>	i</a:t>
            </a:r>
            <a:r>
              <a:rPr lang="en-US" sz="1600" dirty="0"/>
              <a:t>. Must be without fault in bringing on difficulty.</a:t>
            </a:r>
          </a:p>
          <a:p>
            <a:r>
              <a:rPr lang="en-US" sz="1600" dirty="0" smtClean="0"/>
              <a:t>	ii</a:t>
            </a:r>
            <a:r>
              <a:rPr lang="en-US" sz="1600" dirty="0"/>
              <a:t>. Must actually believe he is in imminent </a:t>
            </a:r>
            <a:r>
              <a:rPr lang="en-US" sz="1600" dirty="0" smtClean="0"/>
              <a:t>danger of </a:t>
            </a:r>
            <a:r>
              <a:rPr lang="en-US" sz="1600" dirty="0"/>
              <a:t>loss of life or serious bodily </a:t>
            </a:r>
            <a:r>
              <a:rPr lang="en-US" sz="1600" dirty="0" smtClean="0"/>
              <a:t>injury </a:t>
            </a:r>
            <a:r>
              <a:rPr lang="en-US" sz="1600" dirty="0"/>
              <a:t>or actually was </a:t>
            </a:r>
            <a:r>
              <a:rPr lang="en-US" sz="1600" dirty="0" smtClean="0"/>
              <a:t>in such </a:t>
            </a:r>
            <a:r>
              <a:rPr lang="en-US" sz="1600" dirty="0"/>
              <a:t>danger.</a:t>
            </a:r>
          </a:p>
          <a:p>
            <a:r>
              <a:rPr lang="en-US" sz="1600" dirty="0" smtClean="0"/>
              <a:t>	iii</a:t>
            </a:r>
            <a:r>
              <a:rPr lang="en-US" sz="1600" dirty="0"/>
              <a:t>. Reasonable or prudent man of </a:t>
            </a:r>
            <a:r>
              <a:rPr lang="en-US" sz="1600" dirty="0" smtClean="0"/>
              <a:t>ordinary firmness </a:t>
            </a:r>
            <a:r>
              <a:rPr lang="en-US" sz="1600" dirty="0"/>
              <a:t>and courage would have </a:t>
            </a:r>
            <a:r>
              <a:rPr lang="en-US" sz="1600" dirty="0" smtClean="0"/>
              <a:t>believed </a:t>
            </a:r>
            <a:r>
              <a:rPr lang="en-US" sz="1600" dirty="0"/>
              <a:t>the same </a:t>
            </a:r>
            <a:r>
              <a:rPr lang="en-US" sz="1600" dirty="0" smtClean="0"/>
              <a:t>and acted </a:t>
            </a:r>
            <a:r>
              <a:rPr lang="en-US" sz="1600" dirty="0"/>
              <a:t>the same to save himself from serious bodily </a:t>
            </a:r>
            <a:r>
              <a:rPr lang="en-US" sz="1600" dirty="0" smtClean="0"/>
              <a:t>harm or </a:t>
            </a:r>
            <a:r>
              <a:rPr lang="en-US" sz="1600" dirty="0"/>
              <a:t>losing life.</a:t>
            </a:r>
          </a:p>
          <a:p>
            <a:r>
              <a:rPr lang="en-US" sz="1600" dirty="0" smtClean="0"/>
              <a:t>	iv</a:t>
            </a:r>
            <a:r>
              <a:rPr lang="en-US" sz="1600" dirty="0"/>
              <a:t>. No other probable means of avoiding </a:t>
            </a:r>
            <a:r>
              <a:rPr lang="en-US" sz="1600" dirty="0" smtClean="0"/>
              <a:t>the danger</a:t>
            </a:r>
            <a:r>
              <a:rPr lang="en-US" sz="1600" dirty="0"/>
              <a:t>.</a:t>
            </a:r>
          </a:p>
          <a:p>
            <a:r>
              <a:rPr lang="en-US" sz="1600" dirty="0"/>
              <a:t>Read the handout word for word.</a:t>
            </a:r>
          </a:p>
          <a:p>
            <a:endParaRPr lang="en-US" sz="1600" dirty="0" smtClean="0"/>
          </a:p>
          <a:p>
            <a:r>
              <a:rPr lang="en-US" sz="1600" dirty="0" smtClean="0"/>
              <a:t>Where </a:t>
            </a:r>
            <a:r>
              <a:rPr lang="en-US" sz="1600" dirty="0"/>
              <a:t>duty to retreat is not applicable: (List </a:t>
            </a:r>
            <a:r>
              <a:rPr lang="en-US" sz="1600" dirty="0" smtClean="0"/>
              <a:t>those places </a:t>
            </a:r>
            <a:r>
              <a:rPr lang="en-US" sz="1600" dirty="0"/>
              <a:t>currently applicable per information provided </a:t>
            </a:r>
            <a:r>
              <a:rPr lang="en-US" sz="1600" dirty="0" smtClean="0"/>
              <a:t>by SLED</a:t>
            </a:r>
            <a:r>
              <a:rPr lang="en-US" sz="1600" dirty="0"/>
              <a:t>.)</a:t>
            </a:r>
          </a:p>
          <a:p>
            <a:endParaRPr lang="en-US" sz="1600" dirty="0" smtClean="0"/>
          </a:p>
          <a:p>
            <a:r>
              <a:rPr lang="en-US" sz="1600" dirty="0" smtClean="0"/>
              <a:t>Protection </a:t>
            </a:r>
            <a:r>
              <a:rPr lang="en-US" sz="1600" dirty="0"/>
              <a:t>of Persons and Property Act of </a:t>
            </a:r>
            <a:r>
              <a:rPr lang="en-US" sz="1600" dirty="0" smtClean="0"/>
              <a:t>2006 recognizes </a:t>
            </a:r>
            <a:r>
              <a:rPr lang="en-US" sz="1600" dirty="0"/>
              <a:t>castle doctrine and extends lawful use </a:t>
            </a:r>
            <a:r>
              <a:rPr lang="en-US" sz="1600" dirty="0" smtClean="0"/>
              <a:t>of deadly </a:t>
            </a:r>
            <a:r>
              <a:rPr lang="en-US" sz="1600" dirty="0"/>
              <a:t>force to person’s dwelling, residence, or </a:t>
            </a:r>
            <a:r>
              <a:rPr lang="en-US" sz="1600" dirty="0" smtClean="0"/>
              <a:t>occupied vehicle</a:t>
            </a:r>
            <a:r>
              <a:rPr lang="en-US" sz="1600" dirty="0"/>
              <a:t>. No duty to retreat if the person is in a </a:t>
            </a:r>
            <a:r>
              <a:rPr lang="en-US" sz="1600" dirty="0" smtClean="0"/>
              <a:t>place where </a:t>
            </a:r>
            <a:r>
              <a:rPr lang="en-US" sz="1600" dirty="0"/>
              <a:t>he has a right to be, including his place </a:t>
            </a:r>
            <a:r>
              <a:rPr lang="en-US" sz="1600" dirty="0" smtClean="0"/>
              <a:t>of business</a:t>
            </a:r>
            <a:r>
              <a:rPr lang="en-US" sz="1600" dirty="0"/>
              <a:t>, and the person is not engaged in </a:t>
            </a:r>
            <a:r>
              <a:rPr lang="en-US" sz="1600" dirty="0" smtClean="0"/>
              <a:t>unlawful activity</a:t>
            </a:r>
            <a:r>
              <a:rPr lang="en-US" sz="1600" dirty="0"/>
              <a:t>, and the use of deadly force is necessary </a:t>
            </a:r>
            <a:r>
              <a:rPr lang="en-US" sz="1600" dirty="0" smtClean="0"/>
              <a:t>to prevent </a:t>
            </a:r>
            <a:r>
              <a:rPr lang="en-US" sz="1600" dirty="0"/>
              <a:t>death, great bodily harm, or the commission of </a:t>
            </a:r>
            <a:r>
              <a:rPr lang="en-US" sz="1600" dirty="0" smtClean="0"/>
              <a:t>a violent crime.</a:t>
            </a:r>
            <a:endParaRPr lang="en-US" sz="1600" b="1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23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Self Defense and Defense of Others, Continued…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959748"/>
            <a:ext cx="80771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DEFENSE OF OTHERS</a:t>
            </a:r>
          </a:p>
          <a:p>
            <a:r>
              <a:rPr lang="en-US" sz="1600" dirty="0" smtClean="0"/>
              <a:t>a. “alter </a:t>
            </a:r>
            <a:r>
              <a:rPr lang="en-US" sz="1600" dirty="0"/>
              <a:t>ego” rule</a:t>
            </a:r>
          </a:p>
          <a:p>
            <a:r>
              <a:rPr lang="en-US" sz="1600" dirty="0"/>
              <a:t>b. If the person who is defended could have </a:t>
            </a:r>
            <a:r>
              <a:rPr lang="en-US" sz="1600" dirty="0" smtClean="0"/>
              <a:t>legally applied </a:t>
            </a:r>
            <a:r>
              <a:rPr lang="en-US" sz="1600" dirty="0"/>
              <a:t>self-defense measures, then the person </a:t>
            </a:r>
            <a:r>
              <a:rPr lang="en-US" sz="1600" dirty="0" smtClean="0"/>
              <a:t>who intervenes </a:t>
            </a:r>
            <a:r>
              <a:rPr lang="en-US" sz="1600" dirty="0"/>
              <a:t>is also </a:t>
            </a:r>
            <a:r>
              <a:rPr lang="en-US" sz="1600" dirty="0" smtClean="0"/>
              <a:t>protected</a:t>
            </a:r>
          </a:p>
          <a:p>
            <a:endParaRPr lang="en-US" sz="1600" dirty="0" smtClean="0"/>
          </a:p>
          <a:p>
            <a:pPr algn="ctr"/>
            <a:r>
              <a:rPr lang="en-US" sz="1600" dirty="0"/>
              <a:t>RESISTING A LAWFUL ARREST</a:t>
            </a:r>
          </a:p>
          <a:p>
            <a:r>
              <a:rPr lang="en-US" sz="1600" dirty="0"/>
              <a:t>There is no right to resist a lawful arrest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pPr algn="ctr"/>
            <a:r>
              <a:rPr lang="en-US" sz="1600" dirty="0" smtClean="0"/>
              <a:t>CITIZEN’S </a:t>
            </a:r>
            <a:r>
              <a:rPr lang="en-US" sz="1600" dirty="0"/>
              <a:t>ARREST</a:t>
            </a:r>
          </a:p>
          <a:p>
            <a:r>
              <a:rPr lang="en-US" sz="1600" dirty="0"/>
              <a:t>a. Felony—if personally viewed or reasonable cause.</a:t>
            </a:r>
          </a:p>
          <a:p>
            <a:r>
              <a:rPr lang="en-US" sz="1600" dirty="0"/>
              <a:t>b. Misdemeanor—if viewed and breach of </a:t>
            </a:r>
            <a:r>
              <a:rPr lang="en-US" sz="1600" dirty="0" smtClean="0"/>
              <a:t>peace</a:t>
            </a:r>
          </a:p>
          <a:p>
            <a:endParaRPr lang="en-US" sz="1600" dirty="0" smtClean="0"/>
          </a:p>
          <a:p>
            <a:pPr algn="ctr"/>
            <a:r>
              <a:rPr lang="en-US" sz="1600" dirty="0"/>
              <a:t>DEFENSE OF PROPERTY</a:t>
            </a:r>
          </a:p>
          <a:p>
            <a:r>
              <a:rPr lang="en-US" sz="1600" dirty="0"/>
              <a:t>One can use only the force that is necessary </a:t>
            </a:r>
            <a:r>
              <a:rPr lang="en-US" sz="1600" dirty="0" smtClean="0"/>
              <a:t>or apparently </a:t>
            </a:r>
            <a:r>
              <a:rPr lang="en-US" sz="1600" dirty="0"/>
              <a:t>necessary to a reasonably prudent </a:t>
            </a:r>
            <a:r>
              <a:rPr lang="en-US" sz="1600" dirty="0" smtClean="0"/>
              <a:t>man. </a:t>
            </a:r>
            <a:r>
              <a:rPr lang="en-US" sz="1600" dirty="0"/>
              <a:t>Excessive force in defense of property is </a:t>
            </a:r>
            <a:r>
              <a:rPr lang="en-US" sz="1600" dirty="0" smtClean="0"/>
              <a:t>punishable.</a:t>
            </a:r>
            <a:endParaRPr lang="en-US" sz="1600" b="1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91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Liability and Responsibility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714242"/>
            <a:ext cx="80771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F. Liability and responsibility</a:t>
            </a:r>
          </a:p>
          <a:p>
            <a:r>
              <a:rPr lang="en-US" sz="1600" dirty="0"/>
              <a:t>1. Never fire at a target you have not </a:t>
            </a:r>
            <a:r>
              <a:rPr lang="en-US" sz="1600" dirty="0" smtClean="0"/>
              <a:t>properly identified</a:t>
            </a:r>
            <a:r>
              <a:rPr lang="en-US" sz="1600" dirty="0"/>
              <a:t>.</a:t>
            </a:r>
          </a:p>
          <a:p>
            <a:r>
              <a:rPr lang="en-US" sz="1600" dirty="0"/>
              <a:t>2. Keep firearms out of the reach of children </a:t>
            </a:r>
            <a:r>
              <a:rPr lang="en-US" sz="1600" dirty="0" smtClean="0"/>
              <a:t>and unauthorized </a:t>
            </a:r>
            <a:r>
              <a:rPr lang="en-US" sz="1600" dirty="0"/>
              <a:t>adults.</a:t>
            </a:r>
          </a:p>
          <a:p>
            <a:r>
              <a:rPr lang="en-US" sz="1600" dirty="0"/>
              <a:t>3. Make moral and ethical decisions before carrying </a:t>
            </a:r>
            <a:r>
              <a:rPr lang="en-US" sz="1600" dirty="0" smtClean="0"/>
              <a:t>a firearm</a:t>
            </a:r>
            <a:r>
              <a:rPr lang="en-US" sz="1600" dirty="0"/>
              <a:t>.</a:t>
            </a:r>
          </a:p>
          <a:p>
            <a:r>
              <a:rPr lang="en-US" sz="1600" dirty="0" smtClean="0"/>
              <a:t>	Each </a:t>
            </a:r>
            <a:r>
              <a:rPr lang="en-US" sz="1600" dirty="0"/>
              <a:t>gun owner is responsible for </a:t>
            </a:r>
            <a:r>
              <a:rPr lang="en-US" sz="1600" dirty="0" smtClean="0"/>
              <a:t>the safe </a:t>
            </a:r>
            <a:r>
              <a:rPr lang="en-US" sz="1600" dirty="0"/>
              <a:t>landing of every round </a:t>
            </a:r>
            <a:r>
              <a:rPr lang="en-US" sz="1600" dirty="0" smtClean="0"/>
              <a:t>fired</a:t>
            </a:r>
            <a:r>
              <a:rPr lang="en-US" sz="1600" dirty="0"/>
              <a:t>!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/>
              <a:t>G. Alternatives to use of </a:t>
            </a:r>
            <a:r>
              <a:rPr lang="en-US" sz="1600" b="1" dirty="0" smtClean="0"/>
              <a:t>force—avoiding confrontation</a:t>
            </a:r>
            <a:endParaRPr lang="en-US" sz="1600" b="1" dirty="0"/>
          </a:p>
          <a:p>
            <a:r>
              <a:rPr lang="en-US" sz="1600" dirty="0"/>
              <a:t>1. Home Security</a:t>
            </a:r>
          </a:p>
          <a:p>
            <a:r>
              <a:rPr lang="en-US" sz="1600" dirty="0" smtClean="0"/>
              <a:t>	a</a:t>
            </a:r>
            <a:r>
              <a:rPr lang="en-US" sz="1600" dirty="0"/>
              <a:t>. Security Systems</a:t>
            </a:r>
          </a:p>
          <a:p>
            <a:r>
              <a:rPr lang="en-US" sz="1600" dirty="0" smtClean="0"/>
              <a:t>	b</a:t>
            </a:r>
            <a:r>
              <a:rPr lang="en-US" sz="1600" dirty="0"/>
              <a:t>. Dealing with strangers</a:t>
            </a:r>
          </a:p>
          <a:p>
            <a:r>
              <a:rPr lang="en-US" sz="1600" dirty="0" smtClean="0"/>
              <a:t>	c</a:t>
            </a:r>
            <a:r>
              <a:rPr lang="en-US" sz="1600" dirty="0"/>
              <a:t>. Door peep holes</a:t>
            </a:r>
          </a:p>
          <a:p>
            <a:r>
              <a:rPr lang="en-US" sz="1600" dirty="0" smtClean="0"/>
              <a:t>	d</a:t>
            </a:r>
            <a:r>
              <a:rPr lang="en-US" sz="1600" dirty="0"/>
              <a:t>. Exterior and interior lighting</a:t>
            </a:r>
          </a:p>
          <a:p>
            <a:r>
              <a:rPr lang="en-US" sz="1600" dirty="0" smtClean="0"/>
              <a:t>	e</a:t>
            </a:r>
            <a:r>
              <a:rPr lang="en-US" sz="1600" dirty="0"/>
              <a:t>. Shrubbery</a:t>
            </a:r>
          </a:p>
          <a:p>
            <a:r>
              <a:rPr lang="en-US" sz="1600" dirty="0" smtClean="0"/>
              <a:t>	f</a:t>
            </a:r>
            <a:r>
              <a:rPr lang="en-US" sz="1600" dirty="0"/>
              <a:t>. Change locks and keys in new home or apartment</a:t>
            </a:r>
          </a:p>
          <a:p>
            <a:r>
              <a:rPr lang="en-US" sz="1600" dirty="0" smtClean="0"/>
              <a:t>	g</a:t>
            </a:r>
            <a:r>
              <a:rPr lang="en-US" sz="1600" dirty="0"/>
              <a:t>. Lock doors when you are </a:t>
            </a:r>
            <a:r>
              <a:rPr lang="en-US" sz="1600" dirty="0" smtClean="0"/>
              <a:t>home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012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87354"/>
          </a:xfrm>
          <a:solidFill>
            <a:srgbClr val="EC1010"/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NewRomanPS-BoldMT"/>
              </a:rPr>
              <a:t>Liability and Responsibility, Continued…</a:t>
            </a:r>
            <a:endParaRPr lang="en-US" altLang="en-US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90800" y="1714242"/>
            <a:ext cx="807719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2. Phone Security</a:t>
            </a:r>
          </a:p>
          <a:p>
            <a:r>
              <a:rPr lang="en-US" sz="1600" dirty="0"/>
              <a:t>	a. Strangers</a:t>
            </a:r>
          </a:p>
          <a:p>
            <a:r>
              <a:rPr lang="en-US" sz="1600" dirty="0"/>
              <a:t>	b. Answering machines messages</a:t>
            </a:r>
          </a:p>
          <a:p>
            <a:r>
              <a:rPr lang="en-US" sz="1600" dirty="0"/>
              <a:t>	c. Cellular phone “privacy.”</a:t>
            </a:r>
          </a:p>
          <a:p>
            <a:r>
              <a:rPr lang="en-US" sz="1600" dirty="0"/>
              <a:t>3. Automobile Security</a:t>
            </a:r>
          </a:p>
          <a:p>
            <a:r>
              <a:rPr lang="en-US" sz="1600" dirty="0"/>
              <a:t>	a. Keys ready</a:t>
            </a:r>
          </a:p>
          <a:p>
            <a:r>
              <a:rPr lang="en-US" sz="1600" dirty="0"/>
              <a:t>	b. Be aware</a:t>
            </a:r>
          </a:p>
          <a:p>
            <a:r>
              <a:rPr lang="en-US" sz="1600" dirty="0"/>
              <a:t>	c. Key security</a:t>
            </a:r>
          </a:p>
          <a:p>
            <a:r>
              <a:rPr lang="en-US" sz="1600" dirty="0"/>
              <a:t>	d. Lock doors when inside</a:t>
            </a:r>
          </a:p>
          <a:p>
            <a:r>
              <a:rPr lang="en-US" sz="1600" dirty="0"/>
              <a:t>	e. Stay in your car</a:t>
            </a:r>
          </a:p>
          <a:p>
            <a:r>
              <a:rPr lang="en-US" sz="1600" dirty="0"/>
              <a:t>	f. Keep it gassed up</a:t>
            </a:r>
          </a:p>
          <a:p>
            <a:r>
              <a:rPr lang="en-US" sz="1600" dirty="0"/>
              <a:t>	g. Consider a cellular</a:t>
            </a:r>
          </a:p>
          <a:p>
            <a:r>
              <a:rPr lang="en-US" sz="1600" dirty="0"/>
              <a:t>	h. No hitchhikers</a:t>
            </a:r>
          </a:p>
          <a:p>
            <a:r>
              <a:rPr lang="en-US" sz="1600" dirty="0"/>
              <a:t>4. Physical Security</a:t>
            </a:r>
          </a:p>
          <a:p>
            <a:r>
              <a:rPr lang="en-US" sz="1600" dirty="0"/>
              <a:t>	a. Maintain your space</a:t>
            </a:r>
          </a:p>
          <a:p>
            <a:r>
              <a:rPr lang="en-US" sz="1600" dirty="0"/>
              <a:t>	b. Be aware</a:t>
            </a:r>
          </a:p>
          <a:p>
            <a:r>
              <a:rPr lang="en-US" sz="1600" dirty="0"/>
              <a:t>	c. Be confident</a:t>
            </a:r>
          </a:p>
          <a:p>
            <a:r>
              <a:rPr lang="en-US" sz="1600" dirty="0"/>
              <a:t>	d. Avoid outside ATMs at night</a:t>
            </a:r>
          </a:p>
          <a:p>
            <a:r>
              <a:rPr lang="en-US" sz="1600" dirty="0"/>
              <a:t>	e. Avoid stairwells in parking garages</a:t>
            </a:r>
          </a:p>
          <a:p>
            <a:r>
              <a:rPr lang="en-US" sz="1600" dirty="0"/>
              <a:t>	f. Caution if normal lights not working</a:t>
            </a:r>
            <a:endParaRPr lang="en-US" sz="1600" b="1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6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TimesNewRomanPS-BoldMT</vt:lpstr>
      <vt:lpstr>TimesNewRomanPSMT</vt:lpstr>
      <vt:lpstr>Office Theme</vt:lpstr>
      <vt:lpstr>  LESSON II:  Legal Aspects of Concealed Carry Avoid Confrontation</vt:lpstr>
      <vt:lpstr> State Law</vt:lpstr>
      <vt:lpstr>  Interactions with Law Enforcement Officers</vt:lpstr>
      <vt:lpstr>  Carrying in a Vehicle</vt:lpstr>
      <vt:lpstr>  Places You Cannot Carry a Concealed Weapon</vt:lpstr>
      <vt:lpstr>  Places You Cannot Carry a Concealed Weapon Continued…</vt:lpstr>
      <vt:lpstr>  Using a Firearm Under the Influence of Alcohol or Controlled Substance</vt:lpstr>
      <vt:lpstr>Self Defense and Defense of Others</vt:lpstr>
      <vt:lpstr>Self Defense and Defense of Others, Continued…</vt:lpstr>
      <vt:lpstr>Liability and Responsibility</vt:lpstr>
      <vt:lpstr>Liability and Responsibility, Continued…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LESSON II:  Legal Aspects of Concealed Carry Avoid Confrontation</dc:title>
  <dc:creator>Kenny Coltharp</dc:creator>
  <cp:lastModifiedBy>Kenny Coltharp</cp:lastModifiedBy>
  <cp:revision>1</cp:revision>
  <dcterms:created xsi:type="dcterms:W3CDTF">2016-03-17T16:06:07Z</dcterms:created>
  <dcterms:modified xsi:type="dcterms:W3CDTF">2016-03-17T16:06:20Z</dcterms:modified>
</cp:coreProperties>
</file>